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  <p:sldId id="264" r:id="rId7"/>
    <p:sldId id="261" r:id="rId8"/>
    <p:sldId id="262" r:id="rId9"/>
    <p:sldId id="263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9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odisea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960120"/>
            <a:ext cx="8595360" cy="2148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3520440"/>
            <a:ext cx="103628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0" i="0">
                <a:solidFill>
                  <a:srgbClr val="FFFFFF"/>
                </a:solidFill>
                <a:latin typeface="Georgia"/>
              </a:rPr>
              <a:t>Платформа за агрегиране и вграждане на туристически оферти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78808"/>
            <a:ext cx="103628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1">
                <a:solidFill>
                  <a:srgbClr val="ECDCBA"/>
                </a:solidFill>
                <a:latin typeface="Segoe UI"/>
              </a:rPr>
              <a:t>Един каталог, много канали. Една оферта, много марки.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199632"/>
            <a:ext cx="103628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EEF6F6"/>
                </a:solidFill>
                <a:latin typeface="Segoe UI"/>
              </a:rPr>
              <a:t>Аркан Ахмедов · Магистърска разработка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3893F"/>
                </a:solidFill>
                <a:latin typeface="Segoe UI"/>
              </a:rPr>
              <a:t>КОНТЕКСТ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96112"/>
            <a:ext cx="1005840" cy="41148"/>
          </a:xfrm>
          <a:prstGeom prst="rect">
            <a:avLst/>
          </a:prstGeom>
          <a:solidFill>
            <a:srgbClr val="C69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024128"/>
            <a:ext cx="78638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E1618"/>
                </a:solidFill>
                <a:latin typeface="Georgia"/>
              </a:rPr>
              <a:t>Разединена екосистема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48840"/>
            <a:ext cx="54864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50" b="1">
                <a:solidFill>
                  <a:srgbClr val="B3893F"/>
                </a:solidFill>
                <a:latin typeface="Segoe UI"/>
              </a:rPr>
              <a:t>•  </a:t>
            </a:r>
            <a:r>
              <a:rPr sz="1650">
                <a:solidFill>
                  <a:srgbClr val="0E1618"/>
                </a:solidFill>
                <a:latin typeface="Segoe UI"/>
              </a:rPr>
              <a:t>Операторите създават офертите; агенциите ги продават.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50" b="1">
                <a:solidFill>
                  <a:srgbClr val="B3893F"/>
                </a:solidFill>
                <a:latin typeface="Segoe UI"/>
              </a:rPr>
              <a:t>•  </a:t>
            </a:r>
            <a:r>
              <a:rPr sz="1650">
                <a:solidFill>
                  <a:srgbClr val="0E1618"/>
                </a:solidFill>
                <a:latin typeface="Segoe UI"/>
              </a:rPr>
              <a:t>Липсва общ технологичен слой между двете страни.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50" b="1">
                <a:solidFill>
                  <a:srgbClr val="B3893F"/>
                </a:solidFill>
                <a:latin typeface="Segoe UI"/>
              </a:rPr>
              <a:t>•  </a:t>
            </a:r>
            <a:r>
              <a:rPr sz="1650">
                <a:solidFill>
                  <a:srgbClr val="0E1618"/>
                </a:solidFill>
                <a:latin typeface="Segoe UI"/>
              </a:rPr>
              <a:t>Ръчно поддържаните списъци остаряват бързо.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50" b="1">
                <a:solidFill>
                  <a:srgbClr val="B3893F"/>
                </a:solidFill>
                <a:latin typeface="Segoe UI"/>
              </a:rPr>
              <a:t>•  </a:t>
            </a:r>
            <a:r>
              <a:rPr sz="1650">
                <a:solidFill>
                  <a:srgbClr val="0E1618"/>
                </a:solidFill>
                <a:latin typeface="Segoe UI"/>
              </a:rPr>
              <a:t>iframe вграждането чупи бранда и потребителския опит.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50" b="1">
                <a:solidFill>
                  <a:srgbClr val="B3893F"/>
                </a:solidFill>
                <a:latin typeface="Segoe UI"/>
              </a:rPr>
              <a:t>•  </a:t>
            </a:r>
            <a:r>
              <a:rPr sz="1650">
                <a:solidFill>
                  <a:srgbClr val="0E1618"/>
                </a:solidFill>
                <a:latin typeface="Segoe UI"/>
              </a:rPr>
              <a:t>Изборът досега: актуалност или собствена марка.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7960" y="1783080"/>
            <a:ext cx="502920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-4-1-concep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264" y="2983254"/>
            <a:ext cx="4736592" cy="18058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5A61"/>
                </a:solidFill>
                <a:latin typeface="Georgia"/>
              </a:rPr>
              <a:t>odisea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40080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C7976"/>
                </a:solidFill>
                <a:latin typeface="Segoe U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3893F"/>
                </a:solidFill>
                <a:latin typeface="Segoe UI"/>
              </a:rPr>
              <a:t>ПАЗАР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96112"/>
            <a:ext cx="1005840" cy="41148"/>
          </a:xfrm>
          <a:prstGeom prst="rect">
            <a:avLst/>
          </a:prstGeom>
          <a:solidFill>
            <a:srgbClr val="C69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024128"/>
            <a:ext cx="78638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E1618"/>
                </a:solidFill>
                <a:latin typeface="Georgia"/>
              </a:rPr>
              <a:t>PeakView срещу Odisea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521208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3A4744"/>
                </a:solidFill>
                <a:latin typeface="Georgia"/>
              </a:rPr>
              <a:t>PeakView: доминиращ в България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26080"/>
            <a:ext cx="466344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B3893F"/>
                </a:solidFill>
                <a:latin typeface="Segoe UI"/>
              </a:rPr>
              <a:t>•  </a:t>
            </a:r>
            <a:r>
              <a:rPr sz="1450">
                <a:solidFill>
                  <a:srgbClr val="525F5C"/>
                </a:solidFill>
                <a:latin typeface="Segoe UI"/>
              </a:rPr>
              <a:t>White label по оператор, държава, транспорт.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B3893F"/>
                </a:solidFill>
                <a:latin typeface="Segoe UI"/>
              </a:rPr>
              <a:t>•  </a:t>
            </a:r>
            <a:r>
              <a:rPr sz="1450">
                <a:solidFill>
                  <a:srgbClr val="525F5C"/>
                </a:solidFill>
                <a:latin typeface="Segoe UI"/>
              </a:rPr>
              <a:t>XML интеграции и изработка на сайтове.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B3893F"/>
                </a:solidFill>
                <a:latin typeface="Segoe UI"/>
              </a:rPr>
              <a:t>•  </a:t>
            </a:r>
            <a:r>
              <a:rPr sz="1450">
                <a:solidFill>
                  <a:srgbClr val="525F5C"/>
                </a:solidFill>
                <a:latin typeface="Segoe UI"/>
              </a:rPr>
              <a:t>Travel Web Office: документи, фактури, ваучери.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B3893F"/>
                </a:solidFill>
                <a:latin typeface="Segoe UI"/>
              </a:rPr>
              <a:t>•  </a:t>
            </a:r>
            <a:r>
              <a:rPr sz="1450">
                <a:solidFill>
                  <a:srgbClr val="525F5C"/>
                </a:solidFill>
                <a:latin typeface="Segoe UI"/>
              </a:rPr>
              <a:t>iframe подход: слаба UX и липса на SEO.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5212080" cy="3977639"/>
          </a:xfrm>
          <a:prstGeom prst="roundRect">
            <a:avLst>
              <a:gd name="adj" fmla="val 6000"/>
            </a:avLst>
          </a:prstGeom>
          <a:solidFill>
            <a:srgbClr val="0B2A2E"/>
          </a:solidFill>
          <a:ln w="12700">
            <a:solidFill>
              <a:srgbClr val="0B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309360" y="2103120"/>
            <a:ext cx="5212080" cy="82296"/>
          </a:xfrm>
          <a:prstGeom prst="roundRect">
            <a:avLst>
              <a:gd name="adj" fmla="val 6000"/>
            </a:avLst>
          </a:prstGeom>
          <a:solidFill>
            <a:srgbClr val="C69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11112" y="23774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FFFFFF"/>
                </a:solidFill>
                <a:latin typeface="Georgia"/>
              </a:rPr>
              <a:t>Odisea: нашето предимство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1112" y="2926080"/>
            <a:ext cx="466344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50" b="1">
                <a:solidFill>
                  <a:srgbClr val="C69B54"/>
                </a:solidFill>
                <a:latin typeface="Segoe UI"/>
              </a:rPr>
              <a:t>•  </a:t>
            </a:r>
            <a:r>
              <a:rPr sz="1450">
                <a:solidFill>
                  <a:srgbClr val="EEF6F6"/>
                </a:solidFill>
                <a:latin typeface="Segoe UI"/>
              </a:rPr>
              <a:t>Модерни уеб компоненти, не iframe.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50" b="1">
                <a:solidFill>
                  <a:srgbClr val="C69B54"/>
                </a:solidFill>
                <a:latin typeface="Segoe UI"/>
              </a:rPr>
              <a:t>•  </a:t>
            </a:r>
            <a:r>
              <a:rPr sz="1450">
                <a:solidFill>
                  <a:srgbClr val="EEF6F6"/>
                </a:solidFill>
                <a:latin typeface="Segoe UI"/>
              </a:rPr>
              <a:t>Дизайн токени, а не само цветове.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50" b="1">
                <a:solidFill>
                  <a:srgbClr val="C69B54"/>
                </a:solidFill>
                <a:latin typeface="Segoe UI"/>
              </a:rPr>
              <a:t>•  </a:t>
            </a:r>
            <a:r>
              <a:rPr sz="1450">
                <a:solidFill>
                  <a:srgbClr val="EEF6F6"/>
                </a:solidFill>
                <a:latin typeface="Segoe UI"/>
              </a:rPr>
              <a:t>Connector платформа, не отделни интеграции.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50" b="1">
                <a:solidFill>
                  <a:srgbClr val="C69B54"/>
                </a:solidFill>
                <a:latin typeface="Segoe UI"/>
              </a:rPr>
              <a:t>•  </a:t>
            </a:r>
            <a:r>
              <a:rPr sz="1450">
                <a:solidFill>
                  <a:srgbClr val="EEF6F6"/>
                </a:solidFill>
                <a:latin typeface="Segoe UI"/>
              </a:rPr>
              <a:t>Разделени Collection · Experience · Theme · Publication.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50" b="1">
                <a:solidFill>
                  <a:srgbClr val="C69B54"/>
                </a:solidFill>
                <a:latin typeface="Segoe UI"/>
              </a:rPr>
              <a:t>•  </a:t>
            </a:r>
            <a:r>
              <a:rPr sz="1450">
                <a:solidFill>
                  <a:srgbClr val="EEF6F6"/>
                </a:solidFill>
                <a:latin typeface="Segoe UI"/>
              </a:rPr>
              <a:t>No-code builder днес; developer API в пътната карта.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5A61"/>
                </a:solidFill>
                <a:latin typeface="Georgia"/>
              </a:rPr>
              <a:t>odisea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40080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C7976"/>
                </a:solidFill>
                <a:latin typeface="Segoe UI"/>
              </a:rPr>
              <a:t>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3893F"/>
                </a:solidFill>
                <a:latin typeface="Segoe UI"/>
              </a:rPr>
              <a:t>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96112"/>
            <a:ext cx="1005840" cy="41148"/>
          </a:xfrm>
          <a:prstGeom prst="rect">
            <a:avLst/>
          </a:prstGeom>
          <a:solidFill>
            <a:srgbClr val="C69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024128"/>
            <a:ext cx="107899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E1618"/>
                </a:solidFill>
                <a:latin typeface="Georgia"/>
              </a:rPr>
              <a:t>Публикувай веднъж, разпространявай навсякъде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94560"/>
            <a:ext cx="557784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50" b="1">
                <a:solidFill>
                  <a:srgbClr val="B3893F"/>
                </a:solidFill>
                <a:latin typeface="Segoe UI"/>
              </a:rPr>
              <a:t>•  </a:t>
            </a:r>
            <a:r>
              <a:rPr sz="1650">
                <a:solidFill>
                  <a:srgbClr val="0E1618"/>
                </a:solidFill>
                <a:latin typeface="Segoe UI"/>
              </a:rPr>
              <a:t>Централен каталог от туристически оферти.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50" b="1">
                <a:solidFill>
                  <a:srgbClr val="B3893F"/>
                </a:solidFill>
                <a:latin typeface="Segoe UI"/>
              </a:rPr>
              <a:t>•  </a:t>
            </a:r>
            <a:r>
              <a:rPr sz="1650">
                <a:solidFill>
                  <a:srgbClr val="0E1618"/>
                </a:solidFill>
                <a:latin typeface="Segoe UI"/>
              </a:rPr>
              <a:t>Агенцията подбира, стилизира и публикува.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50" b="1">
                <a:solidFill>
                  <a:srgbClr val="B3893F"/>
                </a:solidFill>
                <a:latin typeface="Segoe UI"/>
              </a:rPr>
              <a:t>•  </a:t>
            </a:r>
            <a:r>
              <a:rPr sz="1650">
                <a:solidFill>
                  <a:srgbClr val="0E1618"/>
                </a:solidFill>
                <a:latin typeface="Segoe UI"/>
              </a:rPr>
              <a:t>Вградими уеб компоненти вместо iframe.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50" b="1">
                <a:solidFill>
                  <a:srgbClr val="B3893F"/>
                </a:solidFill>
                <a:latin typeface="Segoe UI"/>
              </a:rPr>
              <a:t>•  </a:t>
            </a:r>
            <a:r>
              <a:rPr sz="1650">
                <a:solidFill>
                  <a:srgbClr val="0E1618"/>
                </a:solidFill>
                <a:latin typeface="Segoe UI"/>
              </a:rPr>
              <a:t>Компонентите приемат облика на приемащия сайт.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50" b="1">
                <a:solidFill>
                  <a:srgbClr val="B3893F"/>
                </a:solidFill>
                <a:latin typeface="Segoe UI"/>
              </a:rPr>
              <a:t>•  </a:t>
            </a:r>
            <a:r>
              <a:rPr sz="1650">
                <a:solidFill>
                  <a:srgbClr val="0E1618"/>
                </a:solidFill>
                <a:latin typeface="Segoe UI"/>
              </a:rPr>
              <a:t>Код за вграждане — copy/paste, без разработчик.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965960"/>
            <a:ext cx="525780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104" y="2426017"/>
            <a:ext cx="4965192" cy="31032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5A61"/>
                </a:solidFill>
                <a:latin typeface="Georgia"/>
              </a:rPr>
              <a:t>odisea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40080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C7976"/>
                </a:solidFill>
                <a:latin typeface="Segoe U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3893F"/>
                </a:solidFill>
                <a:latin typeface="Segoe UI"/>
              </a:rPr>
              <a:t>СТОЙНОСТ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96112"/>
            <a:ext cx="1005840" cy="41148"/>
          </a:xfrm>
          <a:prstGeom prst="rect">
            <a:avLst/>
          </a:prstGeom>
          <a:solidFill>
            <a:srgbClr val="C69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024128"/>
            <a:ext cx="78638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E1618"/>
                </a:solidFill>
                <a:latin typeface="Georgia"/>
              </a:rPr>
              <a:t>Синтез, а не компромис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2670048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58368" y="2286000"/>
            <a:ext cx="2670048" cy="82296"/>
          </a:xfrm>
          <a:prstGeom prst="roundRect">
            <a:avLst>
              <a:gd name="adj" fmla="val 6000"/>
            </a:avLst>
          </a:prstGeom>
          <a:solidFill>
            <a:srgbClr val="C69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14400" y="260604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A5A61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0E1618"/>
                </a:solidFill>
                <a:latin typeface="Georgia"/>
              </a:rPr>
              <a:t>Винаги свежо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221284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25F5C"/>
                </a:solidFill>
                <a:latin typeface="Segoe UI"/>
              </a:rPr>
              <a:t>Централно управление на съдържанието.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2286000"/>
            <a:ext cx="2670048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493008" y="2286000"/>
            <a:ext cx="2670048" cy="82296"/>
          </a:xfrm>
          <a:prstGeom prst="roundRect">
            <a:avLst>
              <a:gd name="adj" fmla="val 6000"/>
            </a:avLst>
          </a:prstGeom>
          <a:solidFill>
            <a:srgbClr val="C69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749040" y="260604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49040" y="265176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A5A61"/>
                </a:solidFill>
                <a:latin typeface="Georg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329184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0E1618"/>
                </a:solidFill>
                <a:latin typeface="Georgia"/>
              </a:rPr>
              <a:t>Твоят бранд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3794760"/>
            <a:ext cx="221284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25F5C"/>
                </a:solidFill>
                <a:latin typeface="Segoe UI"/>
              </a:rPr>
              <a:t>Локален облик чрез дизайн токени и теми.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7648" y="2286000"/>
            <a:ext cx="2670048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327648" y="2286000"/>
            <a:ext cx="2670048" cy="82296"/>
          </a:xfrm>
          <a:prstGeom prst="roundRect">
            <a:avLst>
              <a:gd name="adj" fmla="val 6000"/>
            </a:avLst>
          </a:prstGeom>
          <a:solidFill>
            <a:srgbClr val="C69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583680" y="260604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0" y="265176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A5A61"/>
                </a:solidFill>
                <a:latin typeface="Georgi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29184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0E1618"/>
                </a:solidFill>
                <a:latin typeface="Georgia"/>
              </a:rPr>
              <a:t>Едни данни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794760"/>
            <a:ext cx="221284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25F5C"/>
                </a:solidFill>
                <a:latin typeface="Segoe UI"/>
              </a:rPr>
              <a:t>Много канали и визуални контексти.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62288" y="2286000"/>
            <a:ext cx="2670048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162288" y="2286000"/>
            <a:ext cx="2670048" cy="82296"/>
          </a:xfrm>
          <a:prstGeom prst="roundRect">
            <a:avLst>
              <a:gd name="adj" fmla="val 6000"/>
            </a:avLst>
          </a:prstGeom>
          <a:solidFill>
            <a:srgbClr val="C69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9418320" y="260604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18320" y="265176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A5A61"/>
                </a:solidFill>
                <a:latin typeface="Georgia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3291840"/>
            <a:ext cx="221284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0E1618"/>
                </a:solidFill>
                <a:latin typeface="Georgia"/>
              </a:rPr>
              <a:t>Две публики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794760"/>
            <a:ext cx="221284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525F5C"/>
                </a:solidFill>
                <a:latin typeface="Segoe UI"/>
              </a:rPr>
              <a:t>No-code за агенции; API за разработчици (в план).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1206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525F5C"/>
                </a:solidFill>
                <a:latin typeface="Segoe UI"/>
              </a:rPr>
              <a:t>Не компромис между ръчно и iframe, </a:t>
            </a:r>
            <a:r>
              <a:rPr sz="1500" b="1" i="0">
                <a:solidFill>
                  <a:srgbClr val="1A5A61"/>
                </a:solidFill>
                <a:latin typeface="Georgia"/>
              </a:rPr>
              <a:t>а тяхна синтеза.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5A61"/>
                </a:solidFill>
                <a:latin typeface="Georgia"/>
              </a:rPr>
              <a:t>odisea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640080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C7976"/>
                </a:solidFill>
                <a:latin typeface="Segoe U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3893F"/>
                </a:solidFill>
                <a:latin typeface="Segoe UI"/>
              </a:rPr>
              <a:t>ПОТОК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96112"/>
            <a:ext cx="1005840" cy="41148"/>
          </a:xfrm>
          <a:prstGeom prst="rect">
            <a:avLst/>
          </a:prstGeom>
          <a:solidFill>
            <a:srgbClr val="C69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024128"/>
            <a:ext cx="78638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E1618"/>
                </a:solidFill>
                <a:latin typeface="Georgia"/>
              </a:rPr>
              <a:t>От данни до запитване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402336" cy="402336"/>
          </a:xfrm>
          <a:prstGeom prst="roundRect">
            <a:avLst>
              <a:gd name="adj" fmla="val 6000"/>
            </a:avLst>
          </a:prstGeom>
          <a:solidFill>
            <a:srgbClr val="1A5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2240279"/>
            <a:ext cx="40233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2249424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E1618"/>
                </a:solidFill>
                <a:latin typeface="Segoe UI"/>
              </a:rPr>
              <a:t>Операторът внася оферти (ръчно / групово / конектор).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798064"/>
            <a:ext cx="402336" cy="402336"/>
          </a:xfrm>
          <a:prstGeom prst="roundRect">
            <a:avLst>
              <a:gd name="adj" fmla="val 6000"/>
            </a:avLst>
          </a:prstGeom>
          <a:solidFill>
            <a:srgbClr val="1A5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2843784"/>
            <a:ext cx="40233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852928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E1618"/>
                </a:solidFill>
                <a:latin typeface="Segoe UI"/>
              </a:rPr>
              <a:t>Системата нормализира и съхранява.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401568"/>
            <a:ext cx="402336" cy="402336"/>
          </a:xfrm>
          <a:prstGeom prst="roundRect">
            <a:avLst>
              <a:gd name="adj" fmla="val 6000"/>
            </a:avLst>
          </a:prstGeom>
          <a:solidFill>
            <a:srgbClr val="1A5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" y="3447287"/>
            <a:ext cx="40233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456432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E1618"/>
                </a:solidFill>
                <a:latin typeface="Segoe UI"/>
              </a:rPr>
              <a:t>Агенцията подбира (Collection + филтри).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005072"/>
            <a:ext cx="402336" cy="402336"/>
          </a:xfrm>
          <a:prstGeom prst="roundRect">
            <a:avLst>
              <a:gd name="adj" fmla="val 6000"/>
            </a:avLst>
          </a:prstGeom>
          <a:solidFill>
            <a:srgbClr val="1A5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" y="4050791"/>
            <a:ext cx="40233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4059935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E1618"/>
                </a:solidFill>
                <a:latin typeface="Segoe UI"/>
              </a:rPr>
              <a:t>Избира изглед и тема, после публикува.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608576"/>
            <a:ext cx="402336" cy="402336"/>
          </a:xfrm>
          <a:prstGeom prst="roundRect">
            <a:avLst>
              <a:gd name="adj" fmla="val 6000"/>
            </a:avLst>
          </a:prstGeom>
          <a:solidFill>
            <a:srgbClr val="1A5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4654296"/>
            <a:ext cx="40233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466344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E1618"/>
                </a:solidFill>
                <a:latin typeface="Segoe UI"/>
              </a:rPr>
              <a:t>Компонентът зарежда манифеста по публичен ключ.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212080"/>
            <a:ext cx="402336" cy="402336"/>
          </a:xfrm>
          <a:prstGeom prst="roundRect">
            <a:avLst>
              <a:gd name="adj" fmla="val 6000"/>
            </a:avLst>
          </a:prstGeom>
          <a:solidFill>
            <a:srgbClr val="1A5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" y="5257800"/>
            <a:ext cx="40233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07008" y="5266944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E1618"/>
                </a:solidFill>
                <a:latin typeface="Segoe UI"/>
              </a:rPr>
              <a:t>Туристът праща запитване → Lead + webhook.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1828800"/>
            <a:ext cx="521208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fig-4-7-sequence-publ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7104" y="2539126"/>
            <a:ext cx="4919472" cy="287702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5A61"/>
                </a:solidFill>
                <a:latin typeface="Georgia"/>
              </a:rPr>
              <a:t>odisea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11535" y="640080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C7976"/>
                </a:solidFill>
                <a:latin typeface="Segoe UI"/>
              </a:rPr>
              <a:t>09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3893F"/>
                </a:solidFill>
                <a:latin typeface="Segoe UI"/>
              </a:rPr>
              <a:t>МОДЕЛ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96112"/>
            <a:ext cx="1005840" cy="41148"/>
          </a:xfrm>
          <a:prstGeom prst="rect">
            <a:avLst/>
          </a:prstGeom>
          <a:solidFill>
            <a:srgbClr val="C69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024128"/>
            <a:ext cx="78638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E1618"/>
                </a:solidFill>
                <a:latin typeface="Georgia"/>
              </a:rPr>
              <a:t>От оферта до публикация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68880"/>
            <a:ext cx="19659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58368" y="2468880"/>
            <a:ext cx="1965960" cy="82296"/>
          </a:xfrm>
          <a:prstGeom prst="roundRect">
            <a:avLst>
              <a:gd name="adj" fmla="val 6000"/>
            </a:avLst>
          </a:prstGeom>
          <a:solidFill>
            <a:srgbClr val="1A5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2779776"/>
            <a:ext cx="174650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650" b="1" i="0">
                <a:solidFill>
                  <a:srgbClr val="0E1618"/>
                </a:solidFill>
                <a:latin typeface="Georgia"/>
              </a:rPr>
              <a:t>Offer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529584"/>
            <a:ext cx="17465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25F5C"/>
                </a:solidFill>
                <a:latin typeface="Segoe UI"/>
              </a:rPr>
              <a:t>нормализирана оферта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971800"/>
            <a:ext cx="32918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C69B54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16935" y="2468880"/>
            <a:ext cx="19659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16935" y="2468880"/>
            <a:ext cx="1965960" cy="82296"/>
          </a:xfrm>
          <a:prstGeom prst="roundRect">
            <a:avLst>
              <a:gd name="adj" fmla="val 6000"/>
            </a:avLst>
          </a:prstGeom>
          <a:solidFill>
            <a:srgbClr val="1A5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26663" y="2779776"/>
            <a:ext cx="174650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650" b="1" i="0">
                <a:solidFill>
                  <a:srgbClr val="0E1618"/>
                </a:solidFill>
                <a:latin typeface="Georgia"/>
              </a:rPr>
              <a:t>Collection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663" y="3529584"/>
            <a:ext cx="17465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25F5C"/>
                </a:solidFill>
                <a:latin typeface="Segoe UI"/>
              </a:rPr>
              <a:t>подбор с филтри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2971800"/>
            <a:ext cx="32918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C69B54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75503" y="2468880"/>
            <a:ext cx="19659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175503" y="2468880"/>
            <a:ext cx="1965960" cy="82296"/>
          </a:xfrm>
          <a:prstGeom prst="roundRect">
            <a:avLst>
              <a:gd name="adj" fmla="val 6000"/>
            </a:avLst>
          </a:prstGeom>
          <a:solidFill>
            <a:srgbClr val="144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85231" y="2779776"/>
            <a:ext cx="174650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650" b="1" i="0">
                <a:solidFill>
                  <a:srgbClr val="0E1618"/>
                </a:solidFill>
                <a:latin typeface="Georgia"/>
              </a:rPr>
              <a:t>Experience
+ Theme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85231" y="3529584"/>
            <a:ext cx="17465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25F5C"/>
                </a:solidFill>
                <a:latin typeface="Segoe UI"/>
              </a:rPr>
              <a:t>изглед и стил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23175" y="2971800"/>
            <a:ext cx="32918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C69B54"/>
                </a:solidFill>
                <a:latin typeface="Segoe U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34071" y="2468880"/>
            <a:ext cx="19659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434071" y="2468880"/>
            <a:ext cx="1965960" cy="82296"/>
          </a:xfrm>
          <a:prstGeom prst="roundRect">
            <a:avLst>
              <a:gd name="adj" fmla="val 6000"/>
            </a:avLst>
          </a:prstGeom>
          <a:solidFill>
            <a:srgbClr val="B38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43799" y="2779776"/>
            <a:ext cx="174650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650" b="1" i="0">
                <a:solidFill>
                  <a:srgbClr val="0E1618"/>
                </a:solidFill>
                <a:latin typeface="Georgia"/>
              </a:rPr>
              <a:t>Publication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799" y="3529584"/>
            <a:ext cx="17465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25F5C"/>
                </a:solidFill>
                <a:latin typeface="Segoe UI"/>
              </a:rPr>
              <a:t>публичен ключ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81744" y="2971800"/>
            <a:ext cx="32918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C69B54"/>
                </a:solidFill>
                <a:latin typeface="Segoe U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92640" y="2468880"/>
            <a:ext cx="19659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9692640" y="2468880"/>
            <a:ext cx="1965960" cy="82296"/>
          </a:xfrm>
          <a:prstGeom prst="roundRect">
            <a:avLst>
              <a:gd name="adj" fmla="val 6000"/>
            </a:avLst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802367" y="2779776"/>
            <a:ext cx="174650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650" b="1" i="0">
                <a:solidFill>
                  <a:srgbClr val="0E1618"/>
                </a:solidFill>
                <a:latin typeface="Georgia"/>
              </a:rPr>
              <a:t>Канали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2367" y="3529584"/>
            <a:ext cx="17465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25F5C"/>
                </a:solidFill>
                <a:latin typeface="Segoe UI"/>
              </a:rPr>
              <a:t>сайт · WP ·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452628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525F5C"/>
                </a:solidFill>
                <a:latin typeface="Segoe UI"/>
              </a:rPr>
              <a:t>Едни и същи оферти протичат през подбор, композиция и стил, за да станат </a:t>
            </a:r>
            <a:r>
              <a:rPr sz="1500" b="1" i="0">
                <a:solidFill>
                  <a:srgbClr val="1A5A61"/>
                </a:solidFill>
                <a:latin typeface="Segoe UI"/>
              </a:rPr>
              <a:t>публикация с един стабилен публичен ключ.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486400"/>
            <a:ext cx="3520440" cy="566928"/>
          </a:xfrm>
          <a:prstGeom prst="roundRect">
            <a:avLst>
              <a:gd name="adj" fmla="val 6000"/>
            </a:avLst>
          </a:prstGeom>
          <a:solidFill>
            <a:srgbClr val="F1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86968" y="5632704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A4744"/>
                </a:solidFill>
                <a:latin typeface="Segoe UI"/>
              </a:rPr>
              <a:t>Connector engine · XML/JSON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43400" y="5486400"/>
            <a:ext cx="3520440" cy="566928"/>
          </a:xfrm>
          <a:prstGeom prst="roundRect">
            <a:avLst>
              <a:gd name="adj" fmla="val 6000"/>
            </a:avLst>
          </a:prstGeom>
          <a:solidFill>
            <a:srgbClr val="F1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0" y="5632704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A4744"/>
                </a:solidFill>
                <a:latin typeface="Segoe UI"/>
              </a:rPr>
              <a:t>Мулти-тенант изолация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28432" y="5486400"/>
            <a:ext cx="3520440" cy="566928"/>
          </a:xfrm>
          <a:prstGeom prst="roundRect">
            <a:avLst>
              <a:gd name="adj" fmla="val 6000"/>
            </a:avLst>
          </a:prstGeom>
          <a:solidFill>
            <a:srgbClr val="F1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57032" y="5632704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A4744"/>
                </a:solidFill>
                <a:latin typeface="Segoe UI"/>
              </a:rPr>
              <a:t>Webhooks · Leads · Analytics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5A61"/>
                </a:solidFill>
                <a:latin typeface="Georgia"/>
              </a:rPr>
              <a:t>odisea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11535" y="640080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C7976"/>
                </a:solidFill>
                <a:latin typeface="Segoe U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3893F"/>
                </a:solidFill>
                <a:latin typeface="Segoe UI"/>
              </a:rPr>
              <a:t>АРХИТЕКТУРА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96112"/>
            <a:ext cx="1005840" cy="41148"/>
          </a:xfrm>
          <a:prstGeom prst="rect">
            <a:avLst/>
          </a:prstGeom>
          <a:solidFill>
            <a:srgbClr val="C69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024128"/>
            <a:ext cx="78638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E1618"/>
                </a:solidFill>
                <a:latin typeface="Georgia"/>
              </a:rPr>
              <a:t>Clean Architecture, три повърхности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94560"/>
            <a:ext cx="4754880" cy="658368"/>
          </a:xfrm>
          <a:prstGeom prst="roundRect">
            <a:avLst>
              <a:gd name="adj" fmla="val 6000"/>
            </a:avLst>
          </a:prstGeom>
          <a:solidFill>
            <a:srgbClr val="1A5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313432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Georgia"/>
              </a:rPr>
              <a:t>WebAPI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35000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 i="0">
                <a:solidFill>
                  <a:srgbClr val="EEF6F6"/>
                </a:solidFill>
                <a:latin typeface="Segoe UI"/>
              </a:rPr>
              <a:t>контролери · middleware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44368"/>
            <a:ext cx="4754880" cy="658368"/>
          </a:xfrm>
          <a:prstGeom prst="roundRect">
            <a:avLst>
              <a:gd name="adj" fmla="val 6000"/>
            </a:avLst>
          </a:prstGeom>
          <a:solidFill>
            <a:srgbClr val="144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3063239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Georgia"/>
              </a:rPr>
              <a:t>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099815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 i="0">
                <a:solidFill>
                  <a:srgbClr val="EEF6F6"/>
                </a:solidFill>
                <a:latin typeface="Segoe UI"/>
              </a:rPr>
              <a:t>EF Core · конектори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694176"/>
            <a:ext cx="4754880" cy="658368"/>
          </a:xfrm>
          <a:prstGeom prst="roundRect">
            <a:avLst>
              <a:gd name="adj" fmla="val 6000"/>
            </a:avLst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813048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Georgia"/>
              </a:rPr>
              <a:t>Application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84962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 i="0">
                <a:solidFill>
                  <a:srgbClr val="EEF6F6"/>
                </a:solidFill>
                <a:latin typeface="Segoe UI"/>
              </a:rPr>
              <a:t>случаи на употреба · DTO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443983"/>
            <a:ext cx="4754880" cy="658368"/>
          </a:xfrm>
          <a:prstGeom prst="roundRect">
            <a:avLst>
              <a:gd name="adj" fmla="val 6000"/>
            </a:avLst>
          </a:prstGeom>
          <a:solidFill>
            <a:srgbClr val="0B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4562855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Georgia"/>
              </a:rPr>
              <a:t>Domain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599431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0" i="0">
                <a:solidFill>
                  <a:srgbClr val="EEF6F6"/>
                </a:solidFill>
                <a:latin typeface="Segoe UI"/>
              </a:rPr>
              <a:t>ядро без зависимости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25780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525F5C"/>
                </a:solidFill>
                <a:latin typeface="Segoe UI"/>
              </a:rPr>
              <a:t>Зависимости само навътре → Domain не знае за нищо.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06440" y="2057400"/>
            <a:ext cx="576072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fig-4-3-c4-contai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744" y="2374871"/>
            <a:ext cx="5468112" cy="334269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5A61"/>
                </a:solidFill>
                <a:latin typeface="Georgia"/>
              </a:rPr>
              <a:t>odisea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40080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C7976"/>
                </a:solidFill>
                <a:latin typeface="Segoe U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3893F"/>
                </a:solidFill>
                <a:latin typeface="Segoe UI"/>
              </a:rPr>
              <a:t>ДАННИ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96112"/>
            <a:ext cx="1005840" cy="41148"/>
          </a:xfrm>
          <a:prstGeom prst="rect">
            <a:avLst/>
          </a:prstGeom>
          <a:solidFill>
            <a:srgbClr val="C69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024128"/>
            <a:ext cx="78638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E1618"/>
                </a:solidFill>
                <a:latin typeface="Georgia"/>
              </a:rPr>
              <a:t>PostgreSQL: релации и jsonb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54316" y="1143000"/>
            <a:ext cx="45720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 dirty="0">
                <a:solidFill>
                  <a:srgbClr val="B3893F"/>
                </a:solidFill>
                <a:latin typeface="Segoe UI"/>
              </a:rPr>
              <a:t>•  </a:t>
            </a:r>
            <a:r>
              <a:rPr sz="1550" dirty="0" err="1">
                <a:solidFill>
                  <a:srgbClr val="0E1618"/>
                </a:solidFill>
                <a:latin typeface="Segoe UI"/>
              </a:rPr>
              <a:t>Мулти-тенант</a:t>
            </a:r>
            <a:r>
              <a:rPr sz="1550" dirty="0">
                <a:solidFill>
                  <a:srgbClr val="0E1618"/>
                </a:solidFill>
                <a:latin typeface="Segoe UI"/>
              </a:rPr>
              <a:t>: organizations, memberships.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 dirty="0">
                <a:solidFill>
                  <a:srgbClr val="B3893F"/>
                </a:solidFill>
                <a:latin typeface="Segoe UI"/>
              </a:rPr>
              <a:t>•  </a:t>
            </a:r>
            <a:r>
              <a:rPr sz="1550" dirty="0">
                <a:solidFill>
                  <a:srgbClr val="0E1618"/>
                </a:solidFill>
                <a:latin typeface="Segoe UI"/>
              </a:rPr>
              <a:t>offers и </a:t>
            </a:r>
            <a:r>
              <a:rPr sz="1550" dirty="0" err="1">
                <a:solidFill>
                  <a:srgbClr val="0E1618"/>
                </a:solidFill>
                <a:latin typeface="Segoe UI"/>
              </a:rPr>
              <a:t>source_offers</a:t>
            </a:r>
            <a:r>
              <a:rPr sz="1550" dirty="0">
                <a:solidFill>
                  <a:srgbClr val="0E1618"/>
                </a:solidFill>
                <a:latin typeface="Segoe UI"/>
              </a:rPr>
              <a:t> с </a:t>
            </a:r>
            <a:r>
              <a:rPr sz="1550" dirty="0" err="1">
                <a:solidFill>
                  <a:srgbClr val="0E1618"/>
                </a:solidFill>
                <a:latin typeface="Segoe UI"/>
              </a:rPr>
              <a:t>проследимост</a:t>
            </a:r>
            <a:r>
              <a:rPr sz="1550" dirty="0">
                <a:solidFill>
                  <a:srgbClr val="0E1618"/>
                </a:solidFill>
                <a:latin typeface="Segoe UI"/>
              </a:rPr>
              <a:t>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 dirty="0">
                <a:solidFill>
                  <a:srgbClr val="B3893F"/>
                </a:solidFill>
                <a:latin typeface="Segoe UI"/>
              </a:rPr>
              <a:t>•  </a:t>
            </a:r>
            <a:r>
              <a:rPr sz="1550" dirty="0">
                <a:solidFill>
                  <a:srgbClr val="0E1618"/>
                </a:solidFill>
                <a:latin typeface="Segoe UI"/>
              </a:rPr>
              <a:t>collections, themes, publications.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 dirty="0">
                <a:solidFill>
                  <a:srgbClr val="B3893F"/>
                </a:solidFill>
                <a:latin typeface="Segoe UI"/>
              </a:rPr>
              <a:t>•  </a:t>
            </a:r>
            <a:r>
              <a:rPr sz="1550" dirty="0" err="1">
                <a:solidFill>
                  <a:srgbClr val="0E1618"/>
                </a:solidFill>
                <a:latin typeface="Segoe UI"/>
              </a:rPr>
              <a:t>supplier_connections</a:t>
            </a:r>
            <a:r>
              <a:rPr sz="1550" dirty="0">
                <a:solidFill>
                  <a:srgbClr val="0E1618"/>
                </a:solidFill>
                <a:latin typeface="Segoe UI"/>
              </a:rPr>
              <a:t>, </a:t>
            </a:r>
            <a:r>
              <a:rPr sz="1550" dirty="0" err="1">
                <a:solidFill>
                  <a:srgbClr val="0E1618"/>
                </a:solidFill>
                <a:latin typeface="Segoe UI"/>
              </a:rPr>
              <a:t>import_jobs</a:t>
            </a:r>
            <a:r>
              <a:rPr sz="1550" dirty="0">
                <a:solidFill>
                  <a:srgbClr val="0E1618"/>
                </a:solidFill>
                <a:latin typeface="Segoe UI"/>
              </a:rPr>
              <a:t>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 dirty="0">
                <a:solidFill>
                  <a:srgbClr val="B3893F"/>
                </a:solidFill>
                <a:latin typeface="Segoe UI"/>
              </a:rPr>
              <a:t>•  </a:t>
            </a:r>
            <a:r>
              <a:rPr sz="1550" dirty="0">
                <a:solidFill>
                  <a:srgbClr val="0E1618"/>
                </a:solidFill>
                <a:latin typeface="Segoe UI"/>
              </a:rPr>
              <a:t>Enum-и </a:t>
            </a:r>
            <a:r>
              <a:rPr sz="1550" dirty="0" err="1">
                <a:solidFill>
                  <a:srgbClr val="0E1618"/>
                </a:solidFill>
                <a:latin typeface="Segoe UI"/>
              </a:rPr>
              <a:t>като</a:t>
            </a:r>
            <a:r>
              <a:rPr sz="1550" dirty="0">
                <a:solidFill>
                  <a:srgbClr val="0E1618"/>
                </a:solidFill>
                <a:latin typeface="Segoe UI"/>
              </a:rPr>
              <a:t> </a:t>
            </a:r>
            <a:r>
              <a:rPr sz="1550" dirty="0" err="1">
                <a:solidFill>
                  <a:srgbClr val="0E1618"/>
                </a:solidFill>
                <a:latin typeface="Segoe UI"/>
              </a:rPr>
              <a:t>текст</a:t>
            </a:r>
            <a:r>
              <a:rPr sz="1550" dirty="0">
                <a:solidFill>
                  <a:srgbClr val="0E1618"/>
                </a:solidFill>
                <a:latin typeface="Segoe UI"/>
              </a:rPr>
              <a:t>; </a:t>
            </a:r>
            <a:r>
              <a:rPr sz="1550" dirty="0" err="1">
                <a:solidFill>
                  <a:srgbClr val="0E1618"/>
                </a:solidFill>
                <a:latin typeface="Segoe UI"/>
              </a:rPr>
              <a:t>jsonb</a:t>
            </a:r>
            <a:r>
              <a:rPr sz="1550" dirty="0">
                <a:solidFill>
                  <a:srgbClr val="0E1618"/>
                </a:solidFill>
                <a:latin typeface="Segoe UI"/>
              </a:rPr>
              <a:t> </a:t>
            </a:r>
            <a:r>
              <a:rPr sz="1550" dirty="0" err="1">
                <a:solidFill>
                  <a:srgbClr val="0E1618"/>
                </a:solidFill>
                <a:latin typeface="Segoe UI"/>
              </a:rPr>
              <a:t>за</a:t>
            </a:r>
            <a:r>
              <a:rPr sz="1550" dirty="0">
                <a:solidFill>
                  <a:srgbClr val="0E1618"/>
                </a:solidFill>
                <a:latin typeface="Segoe UI"/>
              </a:rPr>
              <a:t> </a:t>
            </a:r>
            <a:r>
              <a:rPr sz="1550" dirty="0" err="1">
                <a:solidFill>
                  <a:srgbClr val="0E1618"/>
                </a:solidFill>
                <a:latin typeface="Segoe UI"/>
              </a:rPr>
              <a:t>конфигурации</a:t>
            </a:r>
            <a:r>
              <a:rPr sz="1550" dirty="0">
                <a:solidFill>
                  <a:srgbClr val="0E1618"/>
                </a:solidFill>
                <a:latin typeface="Segoe U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0" y="1783080"/>
            <a:ext cx="6217920" cy="4297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fig-4-6-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436" y="1920240"/>
            <a:ext cx="11529331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5A61"/>
                </a:solidFill>
                <a:latin typeface="Georgia"/>
              </a:rPr>
              <a:t>odisea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40080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C7976"/>
                </a:solidFill>
                <a:latin typeface="Segoe U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3893F"/>
                </a:solidFill>
                <a:latin typeface="Segoe UI"/>
              </a:rPr>
              <a:t>ВГРАЖДАНЕ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96112"/>
            <a:ext cx="1005840" cy="41148"/>
          </a:xfrm>
          <a:prstGeom prst="rect">
            <a:avLst/>
          </a:prstGeom>
          <a:solidFill>
            <a:srgbClr val="C69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024128"/>
            <a:ext cx="78638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E1618"/>
                </a:solidFill>
                <a:latin typeface="Georgia"/>
              </a:rPr>
              <a:t>С ключ: оферти. Без ключ: нищо.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240280"/>
            <a:ext cx="5029200" cy="4572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B3893F"/>
                </a:solidFill>
                <a:latin typeface="Segoe UI"/>
              </a:rPr>
              <a:t>•  </a:t>
            </a:r>
            <a:r>
              <a:rPr sz="1550">
                <a:solidFill>
                  <a:srgbClr val="0E1618"/>
                </a:solidFill>
                <a:latin typeface="Segoe UI"/>
              </a:rPr>
              <a:t>Всяка агенция има публикуем ключ.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B3893F"/>
                </a:solidFill>
                <a:latin typeface="Segoe UI"/>
              </a:rPr>
              <a:t>•  </a:t>
            </a:r>
            <a:r>
              <a:rPr sz="1550">
                <a:solidFill>
                  <a:srgbClr val="0E1618"/>
                </a:solidFill>
                <a:latin typeface="Segoe UI"/>
              </a:rPr>
              <a:t>Компонентът праща Authorization: ApiKey.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B3893F"/>
                </a:solidFill>
                <a:latin typeface="Segoe UI"/>
              </a:rPr>
              <a:t>•  </a:t>
            </a:r>
            <a:r>
              <a:rPr sz="1550">
                <a:solidFill>
                  <a:srgbClr val="0E1618"/>
                </a:solidFill>
                <a:latin typeface="Segoe UI"/>
              </a:rPr>
              <a:t>Ключът е безопасен за публичен HTML.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B3893F"/>
                </a:solidFill>
                <a:latin typeface="Segoe UI"/>
              </a:rPr>
              <a:t>•  </a:t>
            </a:r>
            <a:r>
              <a:rPr sz="1550">
                <a:solidFill>
                  <a:srgbClr val="0E1618"/>
                </a:solidFill>
                <a:latin typeface="Segoe UI"/>
              </a:rPr>
              <a:t>Заключване по разрешени домейни.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2240280"/>
            <a:ext cx="539496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355080" y="2459736"/>
            <a:ext cx="1051560" cy="603504"/>
          </a:xfrm>
          <a:prstGeom prst="roundRect">
            <a:avLst>
              <a:gd name="adj" fmla="val 6000"/>
            </a:avLst>
          </a:prstGeom>
          <a:solidFill>
            <a:srgbClr val="1A5A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2569464"/>
            <a:ext cx="1051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Georgia"/>
              </a:rPr>
              <a:t>200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459736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E1618"/>
                </a:solidFill>
                <a:latin typeface="Georgia"/>
              </a:rPr>
              <a:t>Валиден ключ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843784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25F5C"/>
                </a:solidFill>
                <a:latin typeface="Segoe UI"/>
              </a:rPr>
              <a:t>Оферти се зареждат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447288"/>
            <a:ext cx="539496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355080" y="3666744"/>
            <a:ext cx="1051560" cy="603504"/>
          </a:xfrm>
          <a:prstGeom prst="roundRect">
            <a:avLst>
              <a:gd name="adj" fmla="val 6000"/>
            </a:avLst>
          </a:prstGeom>
          <a:solidFill>
            <a:srgbClr val="B38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55080" y="3776472"/>
            <a:ext cx="1051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Georgia"/>
              </a:rPr>
              <a:t>401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3666744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E1618"/>
                </a:solidFill>
                <a:latin typeface="Georgia"/>
              </a:rPr>
              <a:t>Без ключ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4050792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25F5C"/>
                </a:solidFill>
                <a:latin typeface="Segoe UI"/>
              </a:rPr>
              <a:t>Достъпът е отказан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4654296"/>
            <a:ext cx="539496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55080" y="4873752"/>
            <a:ext cx="1051560" cy="603504"/>
          </a:xfrm>
          <a:prstGeom prst="roundRect">
            <a:avLst>
              <a:gd name="adj" fmla="val 6000"/>
            </a:avLst>
          </a:prstGeom>
          <a:solidFill>
            <a:srgbClr val="B21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55080" y="4983480"/>
            <a:ext cx="10515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Georgia"/>
              </a:rPr>
              <a:t>403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4873752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E1618"/>
                </a:solidFill>
                <a:latin typeface="Georgia"/>
              </a:rPr>
              <a:t>Чужд ключ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525780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25F5C"/>
                </a:solidFill>
                <a:latin typeface="Segoe UI"/>
              </a:rPr>
              <a:t>Друга агенция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5A61"/>
                </a:solidFill>
                <a:latin typeface="Georgia"/>
              </a:rPr>
              <a:t>odisea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0080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C7976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3893F"/>
                </a:solidFill>
                <a:latin typeface="Segoe UI"/>
              </a:rPr>
              <a:t>СТАТУС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96112"/>
            <a:ext cx="1005840" cy="41148"/>
          </a:xfrm>
          <a:prstGeom prst="rect">
            <a:avLst/>
          </a:prstGeom>
          <a:solidFill>
            <a:srgbClr val="C69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024128"/>
            <a:ext cx="78638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0E1618"/>
                </a:solidFill>
                <a:latin typeface="Georgia"/>
              </a:rPr>
              <a:t>Функционален MVP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212848"/>
            <a:ext cx="310896" cy="310896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A5A61"/>
                </a:solidFill>
                <a:latin typeface="Segoe U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9456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3A4744"/>
                </a:solidFill>
                <a:latin typeface="Segoe UI"/>
              </a:rPr>
              <a:t>Три повърхности: Landing, Portal, Components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7121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283464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A5A61"/>
                </a:solidFill>
                <a:latin typeface="Segoe U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52928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3A4744"/>
                </a:solidFill>
                <a:latin typeface="Segoe UI"/>
              </a:rPr>
              <a:t>Clean Architecture backend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529584"/>
            <a:ext cx="310896" cy="310896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349300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A5A61"/>
                </a:solidFill>
                <a:latin typeface="Segoe U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511296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3A4744"/>
                </a:solidFill>
                <a:latin typeface="Segoe UI"/>
              </a:rPr>
              <a:t>PostgreSQL с миграции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87952"/>
            <a:ext cx="310896" cy="310896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151376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A5A61"/>
                </a:solidFill>
                <a:latin typeface="Segoe U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69664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3A4744"/>
                </a:solidFill>
                <a:latin typeface="Segoe UI"/>
              </a:rPr>
              <a:t>Мулти-тенант изолация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846319"/>
            <a:ext cx="310896" cy="310896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480974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A5A61"/>
                </a:solidFill>
                <a:latin typeface="Segoe U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28031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3A4744"/>
                </a:solidFill>
                <a:latin typeface="Segoe UI"/>
              </a:rPr>
              <a:t>Оферти: CRUD и групов внос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504688"/>
            <a:ext cx="310896" cy="310896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46811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A5A61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48640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3A4744"/>
                </a:solidFill>
                <a:latin typeface="Segoe UI"/>
              </a:rPr>
              <a:t>Collection builder с филтри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2212848"/>
            <a:ext cx="310896" cy="310896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09360" y="217627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A5A61"/>
                </a:solidFill>
                <a:latin typeface="Segoe U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19456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3A4744"/>
                </a:solidFill>
                <a:latin typeface="Segoe UI"/>
              </a:rPr>
              <a:t>Theme система с дизайн токени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871216"/>
            <a:ext cx="310896" cy="310896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09360" y="283464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A5A61"/>
                </a:solidFill>
                <a:latin typeface="Segoe U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2852928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3A4744"/>
                </a:solidFill>
                <a:latin typeface="Segoe UI"/>
              </a:rPr>
              <a:t>Publication с публичен ключ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529584"/>
            <a:ext cx="310896" cy="310896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09360" y="349300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A5A61"/>
                </a:solidFill>
                <a:latin typeface="Segoe U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3511296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3A4744"/>
                </a:solidFill>
                <a:latin typeface="Segoe UI"/>
              </a:rPr>
              <a:t>Lit web components (grid, carousel)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4187952"/>
            <a:ext cx="310896" cy="310896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09360" y="4151376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A5A61"/>
                </a:solidFill>
                <a:latin typeface="Segoe UI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4169664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3A4744"/>
                </a:solidFill>
                <a:latin typeface="Segoe UI"/>
              </a:rPr>
              <a:t>Connector engine (XML, JSON)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4846319"/>
            <a:ext cx="310896" cy="310896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09360" y="480974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A5A61"/>
                </a:solidFill>
                <a:latin typeface="Segoe U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828031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3A4744"/>
                </a:solidFill>
                <a:latin typeface="Segoe UI"/>
              </a:rPr>
              <a:t>Lead система с webhook известия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09360" y="5504688"/>
            <a:ext cx="310896" cy="310896"/>
          </a:xfrm>
          <a:prstGeom prst="roundRect">
            <a:avLst>
              <a:gd name="adj" fmla="val 6000"/>
            </a:avLst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09360" y="546811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A5A61"/>
                </a:solidFill>
                <a:latin typeface="Segoe U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548640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3A4744"/>
                </a:solidFill>
                <a:latin typeface="Segoe UI"/>
              </a:rPr>
              <a:t>Автоматизирани тестове + Docker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5A61"/>
                </a:solidFill>
                <a:latin typeface="Georgia"/>
              </a:rPr>
              <a:t>odisea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1535" y="640080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C7976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C69B54"/>
                </a:solidFill>
                <a:latin typeface="Segoe UI"/>
              </a:rPr>
              <a:t>ПРОДУКТ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896112"/>
            <a:ext cx="1005840" cy="41148"/>
          </a:xfrm>
          <a:prstGeom prst="rect">
            <a:avLst/>
          </a:prstGeom>
          <a:solidFill>
            <a:srgbClr val="C69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21792" y="1024128"/>
            <a:ext cx="8229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FFFFF"/>
                </a:solidFill>
                <a:latin typeface="Georgia"/>
              </a:rPr>
              <a:t>Порталът в действие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4884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447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bui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1" y="2543175"/>
            <a:ext cx="3273552" cy="204596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507492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EEF6F6"/>
                </a:solidFill>
                <a:latin typeface="Georgia"/>
              </a:rPr>
              <a:t>Композитор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5696" y="214884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447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marketpl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543175"/>
            <a:ext cx="3273552" cy="204596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25696" y="507492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EEF6F6"/>
                </a:solidFill>
                <a:latin typeface="Georgia"/>
              </a:rPr>
              <a:t>Пазар на теми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214884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447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connectio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28" y="2543175"/>
            <a:ext cx="3273552" cy="204596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93024" y="507492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EEF6F6"/>
                </a:solidFill>
                <a:latin typeface="Georgia"/>
              </a:rPr>
              <a:t>Конектори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7607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1">
                <a:solidFill>
                  <a:srgbClr val="ECDCBA"/>
                </a:solidFill>
                <a:latin typeface="Segoe UI"/>
              </a:rPr>
              <a:t>Работи на живо в контейнеризирана среда (Docker · Render · PostgreSQL).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008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69B54"/>
                </a:solidFill>
                <a:latin typeface="Georgia"/>
              </a:rPr>
              <a:t>odisea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11535" y="6400800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EEF6F6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69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6289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1" i="0">
                <a:solidFill>
                  <a:srgbClr val="FFFFFF"/>
                </a:solidFill>
                <a:latin typeface="Georgia"/>
              </a:rPr>
              <a:t>odisea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55767" y="3611880"/>
            <a:ext cx="1280160" cy="41148"/>
          </a:xfrm>
          <a:prstGeom prst="rect">
            <a:avLst/>
          </a:prstGeom>
          <a:solidFill>
            <a:srgbClr val="C69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3628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0" i="1">
                <a:solidFill>
                  <a:srgbClr val="ECDCBA"/>
                </a:solidFill>
                <a:latin typeface="Georgia"/>
              </a:rPr>
              <a:t>Един каталог, много канали. Една оферта, много марки.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663440"/>
            <a:ext cx="103628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EF6F6"/>
                </a:solidFill>
                <a:latin typeface="Segoe UI"/>
              </a:rPr>
              <a:t>Избери съдържание, избери преживяване, избери стил и публикувай навсякъде.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35040"/>
            <a:ext cx="103628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Благодаря!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685</Words>
  <Application>Microsoft Office PowerPoint</Application>
  <PresentationFormat>Widescreen</PresentationFormat>
  <Paragraphs>170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Georgia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Arkan Ahmedov</cp:lastModifiedBy>
  <cp:revision>3</cp:revision>
  <dcterms:created xsi:type="dcterms:W3CDTF">2013-01-27T09:14:16Z</dcterms:created>
  <dcterms:modified xsi:type="dcterms:W3CDTF">2026-07-02T18:58:33Z</dcterms:modified>
  <cp:category/>
</cp:coreProperties>
</file>