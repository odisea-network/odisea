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64" r:id="rId6"/>
    <p:sldId id="262" r:id="rId7"/>
    <p:sldId id="263" r:id="rId8"/>
    <p:sldId id="266" r:id="rId9"/>
    <p:sldId id="267" r:id="rId10"/>
    <p:sldId id="268" r:id="rId11"/>
    <p:sldId id="269" r:id="rId12"/>
    <p:sldId id="26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9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odisea-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960120"/>
            <a:ext cx="8595360" cy="2148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520440"/>
            <a:ext cx="103628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0" i="0">
                <a:solidFill>
                  <a:srgbClr val="FFFFFF"/>
                </a:solidFill>
                <a:latin typeface="Georgia"/>
              </a:rPr>
              <a:t>Платформа за агрегиране и вграждане на туристически оферти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78808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ECDCBA"/>
                </a:solidFill>
                <a:latin typeface="Segoe UI"/>
              </a:rPr>
              <a:t>Един каталог, много канали. Една оферта, много марки.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99632"/>
            <a:ext cx="103628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EEF6F6"/>
                </a:solidFill>
                <a:latin typeface="Segoe UI"/>
              </a:rPr>
              <a:t>Аркан Ахмедов · Магистърска разработка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3893F"/>
                </a:solidFill>
                <a:latin typeface="Segoe UI"/>
              </a:rPr>
              <a:t>КОНТЕКСТ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96112"/>
            <a:ext cx="1005840" cy="41148"/>
          </a:xfrm>
          <a:prstGeom prst="rect">
            <a:avLst/>
          </a:prstGeom>
          <a:solidFill>
            <a:srgbClr val="C69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7863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0E1618"/>
                </a:solidFill>
                <a:latin typeface="Georgia"/>
              </a:rPr>
              <a:t>Разединена екосистема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48840"/>
            <a:ext cx="54864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>
                <a:solidFill>
                  <a:srgbClr val="B3893F"/>
                </a:solidFill>
                <a:latin typeface="Segoe UI"/>
              </a:rPr>
              <a:t>•  </a:t>
            </a:r>
            <a:r>
              <a:rPr sz="1650">
                <a:solidFill>
                  <a:srgbClr val="0E1618"/>
                </a:solidFill>
                <a:latin typeface="Segoe UI"/>
              </a:rPr>
              <a:t>Операторите създават офертите; агенциите ги продават.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>
                <a:solidFill>
                  <a:srgbClr val="B3893F"/>
                </a:solidFill>
                <a:latin typeface="Segoe UI"/>
              </a:rPr>
              <a:t>•  </a:t>
            </a:r>
            <a:r>
              <a:rPr sz="1650">
                <a:solidFill>
                  <a:srgbClr val="0E1618"/>
                </a:solidFill>
                <a:latin typeface="Segoe UI"/>
              </a:rPr>
              <a:t>Липсва общ технологичен слой между двете страни.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>
                <a:solidFill>
                  <a:srgbClr val="B3893F"/>
                </a:solidFill>
                <a:latin typeface="Segoe UI"/>
              </a:rPr>
              <a:t>•  </a:t>
            </a:r>
            <a:r>
              <a:rPr sz="1650">
                <a:solidFill>
                  <a:srgbClr val="0E1618"/>
                </a:solidFill>
                <a:latin typeface="Segoe UI"/>
              </a:rPr>
              <a:t>Ръчно поддържаните списъци остаряват бързо.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>
                <a:solidFill>
                  <a:srgbClr val="B3893F"/>
                </a:solidFill>
                <a:latin typeface="Segoe UI"/>
              </a:rPr>
              <a:t>•  </a:t>
            </a:r>
            <a:r>
              <a:rPr sz="1650">
                <a:solidFill>
                  <a:srgbClr val="0E1618"/>
                </a:solidFill>
                <a:latin typeface="Segoe UI"/>
              </a:rPr>
              <a:t>iframe вграждането чупи бранда и потребителския опит.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>
                <a:solidFill>
                  <a:srgbClr val="B3893F"/>
                </a:solidFill>
                <a:latin typeface="Segoe UI"/>
              </a:rPr>
              <a:t>•  </a:t>
            </a:r>
            <a:r>
              <a:rPr sz="1650">
                <a:solidFill>
                  <a:srgbClr val="0E1618"/>
                </a:solidFill>
                <a:latin typeface="Segoe UI"/>
              </a:rPr>
              <a:t>Изборът досега: актуалност или собствена марка.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783080"/>
            <a:ext cx="50292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-4-1-concep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2983254"/>
            <a:ext cx="4736592" cy="18058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5A61"/>
                </a:solidFill>
                <a:latin typeface="Georgia"/>
              </a:rPr>
              <a:t>odisea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976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3893F"/>
                </a:solidFill>
                <a:latin typeface="Segoe UI"/>
              </a:rPr>
              <a:t>ПАЗАР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96112"/>
            <a:ext cx="1005840" cy="41148"/>
          </a:xfrm>
          <a:prstGeom prst="rect">
            <a:avLst/>
          </a:prstGeom>
          <a:solidFill>
            <a:srgbClr val="C69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7863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0E1618"/>
                </a:solidFill>
                <a:latin typeface="Georgia"/>
              </a:rPr>
              <a:t>PeakView срещу Odisea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03120"/>
            <a:ext cx="521208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3A4744"/>
                </a:solidFill>
                <a:latin typeface="Georgia"/>
              </a:rPr>
              <a:t>PeakView: доминиращ в България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466344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B3893F"/>
                </a:solidFill>
                <a:latin typeface="Segoe UI"/>
              </a:rPr>
              <a:t>•  </a:t>
            </a:r>
            <a:r>
              <a:rPr sz="1450">
                <a:solidFill>
                  <a:srgbClr val="525F5C"/>
                </a:solidFill>
                <a:latin typeface="Segoe UI"/>
              </a:rPr>
              <a:t>White label по оператор, държава, транспорт.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B3893F"/>
                </a:solidFill>
                <a:latin typeface="Segoe UI"/>
              </a:rPr>
              <a:t>•  </a:t>
            </a:r>
            <a:r>
              <a:rPr sz="1450">
                <a:solidFill>
                  <a:srgbClr val="525F5C"/>
                </a:solidFill>
                <a:latin typeface="Segoe UI"/>
              </a:rPr>
              <a:t>XML интеграции и изработка на сайтове.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B3893F"/>
                </a:solidFill>
                <a:latin typeface="Segoe UI"/>
              </a:rPr>
              <a:t>•  </a:t>
            </a:r>
            <a:r>
              <a:rPr sz="1450">
                <a:solidFill>
                  <a:srgbClr val="525F5C"/>
                </a:solidFill>
                <a:latin typeface="Segoe UI"/>
              </a:rPr>
              <a:t>Travel Web Office: документи, фактури, ваучери.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B3893F"/>
                </a:solidFill>
                <a:latin typeface="Segoe UI"/>
              </a:rPr>
              <a:t>•  </a:t>
            </a:r>
            <a:r>
              <a:rPr sz="1450">
                <a:solidFill>
                  <a:srgbClr val="525F5C"/>
                </a:solidFill>
                <a:latin typeface="Segoe UI"/>
              </a:rPr>
              <a:t>iframe подход: слаба UX и липса на SEO.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212080" cy="3977639"/>
          </a:xfrm>
          <a:prstGeom prst="roundRect">
            <a:avLst>
              <a:gd name="adj" fmla="val 6000"/>
            </a:avLst>
          </a:prstGeom>
          <a:solidFill>
            <a:srgbClr val="0B2A2E"/>
          </a:solidFill>
          <a:ln w="12700">
            <a:solidFill>
              <a:srgbClr val="0B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2103120"/>
            <a:ext cx="5212080" cy="82296"/>
          </a:xfrm>
          <a:prstGeom prst="roundRect">
            <a:avLst>
              <a:gd name="adj" fmla="val 6000"/>
            </a:avLst>
          </a:prstGeom>
          <a:solidFill>
            <a:srgbClr val="C69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11112" y="23774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FFFFF"/>
                </a:solidFill>
                <a:latin typeface="Georgia"/>
              </a:rPr>
              <a:t>Odisea: нашето предимство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926080"/>
            <a:ext cx="466344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1">
                <a:solidFill>
                  <a:srgbClr val="C69B54"/>
                </a:solidFill>
                <a:latin typeface="Segoe UI"/>
              </a:rPr>
              <a:t>•  </a:t>
            </a:r>
            <a:r>
              <a:rPr sz="1450">
                <a:solidFill>
                  <a:srgbClr val="EEF6F6"/>
                </a:solidFill>
                <a:latin typeface="Segoe UI"/>
              </a:rPr>
              <a:t>Модерни уеб компоненти, не iframe.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1">
                <a:solidFill>
                  <a:srgbClr val="C69B54"/>
                </a:solidFill>
                <a:latin typeface="Segoe UI"/>
              </a:rPr>
              <a:t>•  </a:t>
            </a:r>
            <a:r>
              <a:rPr sz="1450">
                <a:solidFill>
                  <a:srgbClr val="EEF6F6"/>
                </a:solidFill>
                <a:latin typeface="Segoe UI"/>
              </a:rPr>
              <a:t>Дизайн токени, а не само цветове.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1">
                <a:solidFill>
                  <a:srgbClr val="C69B54"/>
                </a:solidFill>
                <a:latin typeface="Segoe UI"/>
              </a:rPr>
              <a:t>•  </a:t>
            </a:r>
            <a:r>
              <a:rPr sz="1450">
                <a:solidFill>
                  <a:srgbClr val="EEF6F6"/>
                </a:solidFill>
                <a:latin typeface="Segoe UI"/>
              </a:rPr>
              <a:t>Connector платформа, не отделни интеграции.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1">
                <a:solidFill>
                  <a:srgbClr val="C69B54"/>
                </a:solidFill>
                <a:latin typeface="Segoe UI"/>
              </a:rPr>
              <a:t>•  </a:t>
            </a:r>
            <a:r>
              <a:rPr sz="1450">
                <a:solidFill>
                  <a:srgbClr val="EEF6F6"/>
                </a:solidFill>
                <a:latin typeface="Segoe UI"/>
              </a:rPr>
              <a:t>Разделени Collection · Experience · Theme · Publication.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1">
                <a:solidFill>
                  <a:srgbClr val="C69B54"/>
                </a:solidFill>
                <a:latin typeface="Segoe UI"/>
              </a:rPr>
              <a:t>•  </a:t>
            </a:r>
            <a:r>
              <a:rPr sz="1450">
                <a:solidFill>
                  <a:srgbClr val="EEF6F6"/>
                </a:solidFill>
                <a:latin typeface="Segoe UI"/>
              </a:rPr>
              <a:t>No-code builder днес; developer API в пътната карта.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5A61"/>
                </a:solidFill>
                <a:latin typeface="Georgia"/>
              </a:rPr>
              <a:t>odisea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976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3893F"/>
                </a:solidFill>
                <a:latin typeface="Segoe UI"/>
              </a:rPr>
              <a:t>РЕШЕНИЕ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96112"/>
            <a:ext cx="1005840" cy="41148"/>
          </a:xfrm>
          <a:prstGeom prst="rect">
            <a:avLst/>
          </a:prstGeom>
          <a:solidFill>
            <a:srgbClr val="C69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0E1618"/>
                </a:solidFill>
                <a:latin typeface="Georgia"/>
              </a:rPr>
              <a:t>Публикувай веднъж, разпространявай навсякъде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94560"/>
            <a:ext cx="5577840" cy="21117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 dirty="0">
                <a:solidFill>
                  <a:srgbClr val="B3893F"/>
                </a:solidFill>
                <a:latin typeface="Segoe UI"/>
              </a:rPr>
              <a:t>• 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Централен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каталог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от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туристически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оферти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 dirty="0">
                <a:solidFill>
                  <a:srgbClr val="B3893F"/>
                </a:solidFill>
                <a:latin typeface="Segoe UI"/>
              </a:rPr>
              <a:t>• 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Агенцията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подбира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,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стилизира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</a:t>
            </a:r>
            <a:r>
              <a:rPr lang="bg-BG" sz="1650" dirty="0">
                <a:solidFill>
                  <a:srgbClr val="0E1618"/>
                </a:solidFill>
                <a:latin typeface="Segoe UI"/>
              </a:rPr>
              <a:t>тези оферти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 dirty="0">
                <a:solidFill>
                  <a:srgbClr val="B3893F"/>
                </a:solidFill>
                <a:latin typeface="Segoe UI"/>
              </a:rPr>
              <a:t>• 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Вградими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уеб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компоненти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вместо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iframe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 dirty="0">
                <a:solidFill>
                  <a:srgbClr val="B3893F"/>
                </a:solidFill>
                <a:latin typeface="Segoe UI"/>
              </a:rPr>
              <a:t>• 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Компонентите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приемат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облика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на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приемащия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сайт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 dirty="0">
                <a:solidFill>
                  <a:srgbClr val="B3893F"/>
                </a:solidFill>
                <a:latin typeface="Segoe UI"/>
              </a:rPr>
              <a:t>• 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Код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за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вграждане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— copy/paste,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без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 </a:t>
            </a:r>
            <a:r>
              <a:rPr sz="1650" dirty="0" err="1">
                <a:solidFill>
                  <a:srgbClr val="0E1618"/>
                </a:solidFill>
                <a:latin typeface="Segoe UI"/>
              </a:rPr>
              <a:t>разработчик</a:t>
            </a:r>
            <a:r>
              <a:rPr sz="1650" dirty="0">
                <a:solidFill>
                  <a:srgbClr val="0E1618"/>
                </a:solidFill>
                <a:latin typeface="Segoe U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65960"/>
            <a:ext cx="52578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2426017"/>
            <a:ext cx="4965192" cy="31032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5A61"/>
                </a:solidFill>
                <a:latin typeface="Georgia"/>
              </a:rPr>
              <a:t>odisea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976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3893F"/>
                </a:solidFill>
                <a:latin typeface="Segoe UI"/>
              </a:rPr>
              <a:t>ПОТОК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96112"/>
            <a:ext cx="1005840" cy="41148"/>
          </a:xfrm>
          <a:prstGeom prst="rect">
            <a:avLst/>
          </a:prstGeom>
          <a:solidFill>
            <a:srgbClr val="C69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7863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0E1618"/>
                </a:solidFill>
                <a:latin typeface="Georgia"/>
              </a:rPr>
              <a:t>От данни до запитване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402336" cy="402336"/>
          </a:xfrm>
          <a:prstGeom prst="roundRect">
            <a:avLst>
              <a:gd name="adj" fmla="val 6000"/>
            </a:avLst>
          </a:prstGeom>
          <a:solidFill>
            <a:srgbClr val="1A5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240279"/>
            <a:ext cx="4023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249424"/>
            <a:ext cx="49377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 err="1">
                <a:solidFill>
                  <a:srgbClr val="0E1618"/>
                </a:solidFill>
                <a:latin typeface="Segoe UI"/>
              </a:rPr>
              <a:t>Операторът</a:t>
            </a:r>
            <a:r>
              <a:rPr sz="1400" b="0" i="0" dirty="0">
                <a:solidFill>
                  <a:srgbClr val="0E1618"/>
                </a:solidFill>
                <a:latin typeface="Segoe UI"/>
              </a:rPr>
              <a:t> </a:t>
            </a:r>
            <a:r>
              <a:rPr lang="bg-BG" sz="1400" dirty="0">
                <a:solidFill>
                  <a:srgbClr val="0E1618"/>
                </a:solidFill>
                <a:latin typeface="Segoe UI"/>
              </a:rPr>
              <a:t>публикуват</a:t>
            </a:r>
            <a:r>
              <a:rPr sz="1400" b="0" i="0" dirty="0">
                <a:solidFill>
                  <a:srgbClr val="0E161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0E1618"/>
                </a:solidFill>
                <a:latin typeface="Segoe UI"/>
              </a:rPr>
              <a:t>оферти</a:t>
            </a:r>
            <a:r>
              <a:rPr sz="1400" b="0" i="0" dirty="0">
                <a:solidFill>
                  <a:srgbClr val="0E1618"/>
                </a:solidFill>
                <a:latin typeface="Segoe UI"/>
              </a:rPr>
              <a:t> (</a:t>
            </a:r>
            <a:r>
              <a:rPr sz="1400" b="0" i="0" dirty="0" err="1">
                <a:solidFill>
                  <a:srgbClr val="0E1618"/>
                </a:solidFill>
                <a:latin typeface="Segoe UI"/>
              </a:rPr>
              <a:t>ръчно</a:t>
            </a:r>
            <a:r>
              <a:rPr sz="1400" b="0" i="0" dirty="0">
                <a:solidFill>
                  <a:srgbClr val="0E1618"/>
                </a:solidFill>
                <a:latin typeface="Segoe UI"/>
              </a:rPr>
              <a:t> / </a:t>
            </a:r>
            <a:r>
              <a:rPr sz="1400" b="0" i="0" dirty="0" err="1">
                <a:solidFill>
                  <a:srgbClr val="0E1618"/>
                </a:solidFill>
                <a:latin typeface="Segoe UI"/>
              </a:rPr>
              <a:t>групово</a:t>
            </a:r>
            <a:r>
              <a:rPr sz="1400" b="0" i="0" dirty="0">
                <a:solidFill>
                  <a:srgbClr val="0E1618"/>
                </a:solidFill>
                <a:latin typeface="Segoe UI"/>
              </a:rPr>
              <a:t> / </a:t>
            </a:r>
            <a:r>
              <a:rPr sz="1400" b="0" i="0" dirty="0" err="1">
                <a:solidFill>
                  <a:srgbClr val="0E1618"/>
                </a:solidFill>
                <a:latin typeface="Segoe UI"/>
              </a:rPr>
              <a:t>конектор</a:t>
            </a:r>
            <a:r>
              <a:rPr sz="1400" b="0" i="0" dirty="0">
                <a:solidFill>
                  <a:srgbClr val="0E1618"/>
                </a:solidFill>
                <a:latin typeface="Segoe UI"/>
              </a:rPr>
              <a:t>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798064"/>
            <a:ext cx="402336" cy="402336"/>
          </a:xfrm>
          <a:prstGeom prst="roundRect">
            <a:avLst>
              <a:gd name="adj" fmla="val 6000"/>
            </a:avLst>
          </a:prstGeom>
          <a:solidFill>
            <a:srgbClr val="1A5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843784"/>
            <a:ext cx="4023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85292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0E1618"/>
                </a:solidFill>
                <a:latin typeface="Segoe UI"/>
              </a:rPr>
              <a:t>Системата нормализира и съхранява.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401568"/>
            <a:ext cx="402336" cy="402336"/>
          </a:xfrm>
          <a:prstGeom prst="roundRect">
            <a:avLst>
              <a:gd name="adj" fmla="val 6000"/>
            </a:avLst>
          </a:prstGeom>
          <a:solidFill>
            <a:srgbClr val="1A5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3447287"/>
            <a:ext cx="4023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45643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0E1618"/>
                </a:solidFill>
                <a:latin typeface="Segoe UI"/>
              </a:rPr>
              <a:t>Агенцията подбира (Collection + филтри).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005072"/>
            <a:ext cx="402336" cy="402336"/>
          </a:xfrm>
          <a:prstGeom prst="roundRect">
            <a:avLst>
              <a:gd name="adj" fmla="val 6000"/>
            </a:avLst>
          </a:prstGeom>
          <a:solidFill>
            <a:srgbClr val="1A5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4050791"/>
            <a:ext cx="4023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4059935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0E1618"/>
                </a:solidFill>
                <a:latin typeface="Segoe UI"/>
              </a:rPr>
              <a:t>Избира изглед и тема, после публикува.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608576"/>
            <a:ext cx="402336" cy="402336"/>
          </a:xfrm>
          <a:prstGeom prst="roundRect">
            <a:avLst>
              <a:gd name="adj" fmla="val 6000"/>
            </a:avLst>
          </a:prstGeom>
          <a:solidFill>
            <a:srgbClr val="1A5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4654296"/>
            <a:ext cx="4023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6634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 err="1">
                <a:solidFill>
                  <a:srgbClr val="0E1618"/>
                </a:solidFill>
                <a:latin typeface="Segoe UI"/>
              </a:rPr>
              <a:t>Компонентът</a:t>
            </a:r>
            <a:r>
              <a:rPr sz="1400" b="0" i="0" dirty="0">
                <a:solidFill>
                  <a:srgbClr val="0E161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0E1618"/>
                </a:solidFill>
                <a:latin typeface="Segoe UI"/>
              </a:rPr>
              <a:t>зарежда</a:t>
            </a:r>
            <a:r>
              <a:rPr sz="1400" b="0" i="0" dirty="0">
                <a:solidFill>
                  <a:srgbClr val="0E161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0E1618"/>
                </a:solidFill>
                <a:latin typeface="Segoe UI"/>
              </a:rPr>
              <a:t>манифеста</a:t>
            </a:r>
            <a:r>
              <a:rPr sz="1400" b="0" i="0" dirty="0">
                <a:solidFill>
                  <a:srgbClr val="0E161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0E1618"/>
                </a:solidFill>
                <a:latin typeface="Segoe UI"/>
              </a:rPr>
              <a:t>по</a:t>
            </a:r>
            <a:r>
              <a:rPr sz="1400" b="0" i="0" dirty="0">
                <a:solidFill>
                  <a:srgbClr val="0E161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0E1618"/>
                </a:solidFill>
                <a:latin typeface="Segoe UI"/>
              </a:rPr>
              <a:t>публичен</a:t>
            </a:r>
            <a:r>
              <a:rPr sz="1400" b="0" i="0" dirty="0">
                <a:solidFill>
                  <a:srgbClr val="0E161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0E1618"/>
                </a:solidFill>
                <a:latin typeface="Segoe UI"/>
              </a:rPr>
              <a:t>ключ</a:t>
            </a:r>
            <a:r>
              <a:rPr sz="1400" b="0" i="0" dirty="0">
                <a:solidFill>
                  <a:srgbClr val="0E1618"/>
                </a:solidFill>
                <a:latin typeface="Segoe UI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212080"/>
            <a:ext cx="402336" cy="402336"/>
          </a:xfrm>
          <a:prstGeom prst="roundRect">
            <a:avLst>
              <a:gd name="adj" fmla="val 6000"/>
            </a:avLst>
          </a:prstGeom>
          <a:solidFill>
            <a:srgbClr val="1A5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5257800"/>
            <a:ext cx="402336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5266944"/>
            <a:ext cx="49377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 err="1">
                <a:solidFill>
                  <a:srgbClr val="0E1618"/>
                </a:solidFill>
                <a:latin typeface="Segoe UI"/>
              </a:rPr>
              <a:t>Туристът</a:t>
            </a:r>
            <a:r>
              <a:rPr sz="1400" b="0" i="0" dirty="0">
                <a:solidFill>
                  <a:srgbClr val="0E161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0E1618"/>
                </a:solidFill>
                <a:latin typeface="Segoe UI"/>
              </a:rPr>
              <a:t>праща</a:t>
            </a:r>
            <a:r>
              <a:rPr sz="1400" b="0" i="0" dirty="0">
                <a:solidFill>
                  <a:srgbClr val="0E1618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0E1618"/>
                </a:solidFill>
                <a:latin typeface="Segoe UI"/>
              </a:rPr>
              <a:t>запитване</a:t>
            </a:r>
            <a:r>
              <a:rPr sz="1400" b="0" i="0" dirty="0">
                <a:solidFill>
                  <a:srgbClr val="0E1618"/>
                </a:solidFill>
                <a:latin typeface="Segoe UI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828800"/>
            <a:ext cx="521208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fig-4-7-sequence-pub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2539126"/>
            <a:ext cx="4919472" cy="287702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5A61"/>
                </a:solidFill>
                <a:latin typeface="Georgia"/>
              </a:rPr>
              <a:t>odisea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976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 dirty="0">
                <a:solidFill>
                  <a:srgbClr val="B3893F"/>
                </a:solidFill>
                <a:latin typeface="Segoe UI"/>
              </a:rPr>
              <a:t>АРХИТЕКТУРА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96112"/>
            <a:ext cx="1005840" cy="41148"/>
          </a:xfrm>
          <a:prstGeom prst="rect">
            <a:avLst/>
          </a:prstGeom>
          <a:solidFill>
            <a:srgbClr val="C69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786384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bg-BG" sz="3400" b="1" i="0" dirty="0">
                <a:solidFill>
                  <a:srgbClr val="0E1618"/>
                </a:solidFill>
                <a:latin typeface="Georgia"/>
              </a:rPr>
              <a:t>Архитектура</a:t>
            </a:r>
            <a:endParaRPr sz="3400" b="1" i="0" dirty="0">
              <a:solidFill>
                <a:srgbClr val="0E1618"/>
              </a:solidFill>
              <a:latin typeface="Georgia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4754880" cy="658368"/>
          </a:xfrm>
          <a:prstGeom prst="roundRect">
            <a:avLst>
              <a:gd name="adj" fmla="val 6000"/>
            </a:avLst>
          </a:prstGeom>
          <a:solidFill>
            <a:srgbClr val="1A5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1343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Georgia"/>
              </a:rPr>
              <a:t>WebAPI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35000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EEF6F6"/>
                </a:solidFill>
                <a:latin typeface="Segoe UI"/>
              </a:rPr>
              <a:t>контролери · middleware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44368"/>
            <a:ext cx="4754880" cy="658368"/>
          </a:xfrm>
          <a:prstGeom prst="roundRect">
            <a:avLst>
              <a:gd name="adj" fmla="val 6000"/>
            </a:avLst>
          </a:prstGeom>
          <a:solidFill>
            <a:srgbClr val="144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063239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Georgia"/>
              </a:rPr>
              <a:t>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099815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EEF6F6"/>
                </a:solidFill>
                <a:latin typeface="Segoe UI"/>
              </a:rPr>
              <a:t>EF Core · конектори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694176"/>
            <a:ext cx="4754880" cy="658368"/>
          </a:xfrm>
          <a:prstGeom prst="roundRect">
            <a:avLst>
              <a:gd name="adj" fmla="val 6000"/>
            </a:avLst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1304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Georgia"/>
              </a:rPr>
              <a:t>Application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84962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EEF6F6"/>
                </a:solidFill>
                <a:latin typeface="Segoe UI"/>
              </a:rPr>
              <a:t>случаи на употреба · DTO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443983"/>
            <a:ext cx="4754880" cy="658368"/>
          </a:xfrm>
          <a:prstGeom prst="roundRect">
            <a:avLst>
              <a:gd name="adj" fmla="val 6000"/>
            </a:avLst>
          </a:prstGeom>
          <a:solidFill>
            <a:srgbClr val="0B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5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FFFFFF"/>
                </a:solidFill>
                <a:latin typeface="Georgia"/>
              </a:rP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599431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0" i="0">
                <a:solidFill>
                  <a:srgbClr val="EEF6F6"/>
                </a:solidFill>
                <a:latin typeface="Segoe UI"/>
              </a:rPr>
              <a:t>ядро без зависимости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257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1">
                <a:solidFill>
                  <a:srgbClr val="525F5C"/>
                </a:solidFill>
                <a:latin typeface="Segoe UI"/>
              </a:rPr>
              <a:t>Зависимости само навътре → Domain не знае за нищо.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2057400"/>
            <a:ext cx="5760720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ig-4-3-c4-conta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744" y="2374871"/>
            <a:ext cx="5468112" cy="334269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5A61"/>
                </a:solidFill>
                <a:latin typeface="Georgia"/>
              </a:rPr>
              <a:t>odisea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976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3893F"/>
                </a:solidFill>
                <a:latin typeface="Segoe UI"/>
              </a:rPr>
              <a:t>ДАННИ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96112"/>
            <a:ext cx="1005840" cy="41148"/>
          </a:xfrm>
          <a:prstGeom prst="rect">
            <a:avLst/>
          </a:prstGeom>
          <a:solidFill>
            <a:srgbClr val="C69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7863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0E1618"/>
                </a:solidFill>
                <a:latin typeface="Georgia"/>
              </a:rPr>
              <a:t>PostgreSQL: релации и jsonb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783080"/>
            <a:ext cx="62179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-4-6-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36" y="1920240"/>
            <a:ext cx="11529331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5A61"/>
                </a:solidFill>
                <a:latin typeface="Georgia"/>
              </a:rPr>
              <a:t>odisea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976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3893F"/>
                </a:solidFill>
                <a:latin typeface="Segoe UI"/>
              </a:rPr>
              <a:t>ВГРАЖДАНЕ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96112"/>
            <a:ext cx="1005840" cy="41148"/>
          </a:xfrm>
          <a:prstGeom prst="rect">
            <a:avLst/>
          </a:prstGeom>
          <a:solidFill>
            <a:srgbClr val="C69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7863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0E1618"/>
                </a:solidFill>
                <a:latin typeface="Georgia"/>
              </a:rPr>
              <a:t>С ключ: оферти. Без ключ: нищо.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40280"/>
            <a:ext cx="50292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>
                <a:solidFill>
                  <a:srgbClr val="B3893F"/>
                </a:solidFill>
                <a:latin typeface="Segoe UI"/>
              </a:rPr>
              <a:t>•  </a:t>
            </a:r>
            <a:r>
              <a:rPr sz="1550">
                <a:solidFill>
                  <a:srgbClr val="0E1618"/>
                </a:solidFill>
                <a:latin typeface="Segoe UI"/>
              </a:rPr>
              <a:t>Всяка агенция има публикуем ключ.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>
                <a:solidFill>
                  <a:srgbClr val="B3893F"/>
                </a:solidFill>
                <a:latin typeface="Segoe UI"/>
              </a:rPr>
              <a:t>•  </a:t>
            </a:r>
            <a:r>
              <a:rPr sz="1550">
                <a:solidFill>
                  <a:srgbClr val="0E1618"/>
                </a:solidFill>
                <a:latin typeface="Segoe UI"/>
              </a:rPr>
              <a:t>Компонентът праща Authorization: ApiKey.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>
                <a:solidFill>
                  <a:srgbClr val="B3893F"/>
                </a:solidFill>
                <a:latin typeface="Segoe UI"/>
              </a:rPr>
              <a:t>•  </a:t>
            </a:r>
            <a:r>
              <a:rPr sz="1550">
                <a:solidFill>
                  <a:srgbClr val="0E1618"/>
                </a:solidFill>
                <a:latin typeface="Segoe UI"/>
              </a:rPr>
              <a:t>Ключът е безопасен за публичен HTML.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50" b="1">
                <a:solidFill>
                  <a:srgbClr val="B3893F"/>
                </a:solidFill>
                <a:latin typeface="Segoe UI"/>
              </a:rPr>
              <a:t>•  </a:t>
            </a:r>
            <a:r>
              <a:rPr sz="1550">
                <a:solidFill>
                  <a:srgbClr val="0E1618"/>
                </a:solidFill>
                <a:latin typeface="Segoe UI"/>
              </a:rPr>
              <a:t>Заключване по разрешени домейни.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24028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55080" y="2459736"/>
            <a:ext cx="1051560" cy="603504"/>
          </a:xfrm>
          <a:prstGeom prst="roundRect">
            <a:avLst>
              <a:gd name="adj" fmla="val 6000"/>
            </a:avLst>
          </a:prstGeom>
          <a:solidFill>
            <a:srgbClr val="1A5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2569464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Georgia"/>
              </a:rPr>
              <a:t>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45973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E1618"/>
                </a:solidFill>
                <a:latin typeface="Georgia"/>
              </a:rPr>
              <a:t>Валиден ключ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84378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25F5C"/>
                </a:solidFill>
                <a:latin typeface="Segoe UI"/>
              </a:rPr>
              <a:t>Оферти се зареждат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447288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5080" y="3666744"/>
            <a:ext cx="1051560" cy="603504"/>
          </a:xfrm>
          <a:prstGeom prst="roundRect">
            <a:avLst>
              <a:gd name="adj" fmla="val 6000"/>
            </a:avLst>
          </a:prstGeom>
          <a:solidFill>
            <a:srgbClr val="B38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3776472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Georgia"/>
              </a:rPr>
              <a:t>401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66674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E1618"/>
                </a:solidFill>
                <a:latin typeface="Georgia"/>
              </a:rPr>
              <a:t>Без ключ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05079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25F5C"/>
                </a:solidFill>
                <a:latin typeface="Segoe UI"/>
              </a:rPr>
              <a:t>Достъпът е отказан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654296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55080" y="4873752"/>
            <a:ext cx="1051560" cy="603504"/>
          </a:xfrm>
          <a:prstGeom prst="roundRect">
            <a:avLst>
              <a:gd name="adj" fmla="val 6000"/>
            </a:avLst>
          </a:prstGeom>
          <a:solidFill>
            <a:srgbClr val="B21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4983480"/>
            <a:ext cx="1051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Georgia"/>
              </a:rPr>
              <a:t>403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487375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0E1618"/>
                </a:solidFill>
                <a:latin typeface="Georgia"/>
              </a:rPr>
              <a:t>Чужд ключ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5257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25F5C"/>
                </a:solidFill>
                <a:latin typeface="Segoe UI"/>
              </a:rPr>
              <a:t>Друга агенция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5A61"/>
                </a:solidFill>
                <a:latin typeface="Georgia"/>
              </a:rPr>
              <a:t>odisea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97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3893F"/>
                </a:solidFill>
                <a:latin typeface="Segoe UI"/>
              </a:rPr>
              <a:t>СТАТУС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96112"/>
            <a:ext cx="1005840" cy="41148"/>
          </a:xfrm>
          <a:prstGeom prst="rect">
            <a:avLst/>
          </a:prstGeom>
          <a:solidFill>
            <a:srgbClr val="C69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7863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0E1618"/>
                </a:solidFill>
                <a:latin typeface="Georgia"/>
              </a:rPr>
              <a:t>Функционален MVP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1284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17627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A5A61"/>
                </a:solidFill>
                <a:latin typeface="Segoe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945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A4744"/>
                </a:solidFill>
                <a:latin typeface="Segoe UI"/>
              </a:rPr>
              <a:t>Три повърхности: Landing, Portal, Components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7121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A5A61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85292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A4744"/>
                </a:solidFill>
                <a:latin typeface="Segoe UI"/>
              </a:rPr>
              <a:t>Clean Architecture 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29584"/>
            <a:ext cx="310896" cy="310896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4930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A5A61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511296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A4744"/>
                </a:solidFill>
                <a:latin typeface="Segoe UI"/>
              </a:rPr>
              <a:t>PostgreSQL с миграции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87952"/>
            <a:ext cx="310896" cy="310896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15137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A5A61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69664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 err="1">
                <a:solidFill>
                  <a:srgbClr val="3A4744"/>
                </a:solidFill>
                <a:latin typeface="Segoe UI"/>
              </a:rPr>
              <a:t>Мулти-тенант</a:t>
            </a:r>
            <a:r>
              <a:rPr sz="1400" b="0" i="0" dirty="0">
                <a:solidFill>
                  <a:srgbClr val="3A4744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A4744"/>
                </a:solidFill>
                <a:latin typeface="Segoe UI"/>
              </a:rPr>
              <a:t>изолация</a:t>
            </a:r>
            <a:endParaRPr sz="1400" b="0" i="0" dirty="0">
              <a:solidFill>
                <a:srgbClr val="3A4744"/>
              </a:solidFill>
              <a:latin typeface="Segoe U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4846319"/>
            <a:ext cx="310896" cy="310896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80974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A5A61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28031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A4744"/>
                </a:solidFill>
                <a:latin typeface="Segoe UI"/>
              </a:rPr>
              <a:t>Оферти: CRUD и групов внос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50468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546811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A5A61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48640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A4744"/>
                </a:solidFill>
                <a:latin typeface="Segoe UI"/>
              </a:rPr>
              <a:t>Collection builder с филтри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212848"/>
            <a:ext cx="310896" cy="310896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217627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A5A61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1945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A4744"/>
                </a:solidFill>
                <a:latin typeface="Segoe UI"/>
              </a:rPr>
              <a:t>Theme система с дизайн токени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2871216"/>
            <a:ext cx="310896" cy="310896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60" y="28346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A5A61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85292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A4744"/>
                </a:solidFill>
                <a:latin typeface="Segoe UI"/>
              </a:rPr>
              <a:t>Publication с публичен ключ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529584"/>
            <a:ext cx="310896" cy="310896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349300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A5A61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511296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A4744"/>
                </a:solidFill>
                <a:latin typeface="Segoe UI"/>
              </a:rPr>
              <a:t>Lit web components (grid, carousel)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187952"/>
            <a:ext cx="310896" cy="310896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09360" y="415137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A5A61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169664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3A4744"/>
                </a:solidFill>
                <a:latin typeface="Segoe UI"/>
              </a:rPr>
              <a:t>Connector engine (XML, JSON)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4764023"/>
            <a:ext cx="310896" cy="310896"/>
          </a:xfrm>
          <a:prstGeom prst="roundRect">
            <a:avLst>
              <a:gd name="adj" fmla="val 6000"/>
            </a:avLst>
          </a:prstGeom>
          <a:solidFill>
            <a:srgbClr val="EE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0" y="472744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 dirty="0">
                <a:solidFill>
                  <a:srgbClr val="1A5A61"/>
                </a:solidFill>
                <a:latin typeface="Segoe U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809742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 dirty="0" err="1">
                <a:solidFill>
                  <a:srgbClr val="3A4744"/>
                </a:solidFill>
                <a:latin typeface="Segoe UI"/>
              </a:rPr>
              <a:t>Автоматизирани</a:t>
            </a:r>
            <a:r>
              <a:rPr sz="1400" b="0" i="0" dirty="0">
                <a:solidFill>
                  <a:srgbClr val="3A4744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A4744"/>
                </a:solidFill>
                <a:latin typeface="Segoe UI"/>
              </a:rPr>
              <a:t>тестове</a:t>
            </a:r>
            <a:r>
              <a:rPr sz="1400" b="0" i="0" dirty="0">
                <a:solidFill>
                  <a:srgbClr val="3A4744"/>
                </a:solidFill>
                <a:latin typeface="Segoe UI"/>
              </a:rPr>
              <a:t> + Docker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5A61"/>
                </a:solidFill>
                <a:latin typeface="Georgia"/>
              </a:rPr>
              <a:t>odisea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976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C69B54"/>
                </a:solidFill>
                <a:latin typeface="Segoe UI"/>
              </a:rPr>
              <a:t>ПРОДУКТ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96112"/>
            <a:ext cx="1005840" cy="41148"/>
          </a:xfrm>
          <a:prstGeom prst="rect">
            <a:avLst/>
          </a:prstGeom>
          <a:solidFill>
            <a:srgbClr val="C69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8229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FFFFFF"/>
                </a:solidFill>
                <a:latin typeface="Georgia"/>
              </a:rPr>
              <a:t>Порталът в действие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48840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447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1" y="2543175"/>
            <a:ext cx="3273552" cy="20459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0749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EF6F6"/>
                </a:solidFill>
                <a:latin typeface="Georgia"/>
              </a:rPr>
              <a:t>Композитор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148840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447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marketpl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543175"/>
            <a:ext cx="3328416" cy="20802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25696" y="50749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EF6F6"/>
                </a:solidFill>
                <a:latin typeface="Georgia"/>
              </a:rPr>
              <a:t>Пазар на теми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2148840"/>
            <a:ext cx="356616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447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onnec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8" y="2577465"/>
            <a:ext cx="3273552" cy="204596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93024" y="50749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EF6F6"/>
                </a:solidFill>
                <a:latin typeface="Georgia"/>
              </a:rPr>
              <a:t>Конектори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7607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ECDCBA"/>
                </a:solidFill>
                <a:latin typeface="Segoe UI"/>
              </a:rPr>
              <a:t>Работи на живо в контейнеризирана среда (Docker · Render · PostgreSQL).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69B54"/>
                </a:solidFill>
                <a:latin typeface="Georgia"/>
              </a:rPr>
              <a:t>odisea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EEF6F6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9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FFFFFF"/>
                </a:solidFill>
                <a:latin typeface="Georgia"/>
              </a:rPr>
              <a:t>odisea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55767" y="3611880"/>
            <a:ext cx="1280160" cy="41148"/>
          </a:xfrm>
          <a:prstGeom prst="rect">
            <a:avLst/>
          </a:prstGeom>
          <a:solidFill>
            <a:srgbClr val="C69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28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0" i="1">
                <a:solidFill>
                  <a:srgbClr val="ECDCBA"/>
                </a:solidFill>
                <a:latin typeface="Georgia"/>
              </a:rPr>
              <a:t>Един каталог, много канали. Една оферта, много марки.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EF6F6"/>
                </a:solidFill>
                <a:latin typeface="Segoe UI"/>
              </a:rPr>
              <a:t>Избери съдържание, избери преживяване, избери стил и публикувай навсякъде.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Благодаря!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3893F"/>
                </a:solidFill>
                <a:latin typeface="Segoe UI"/>
              </a:rPr>
              <a:t>МОДЕЛ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896112"/>
            <a:ext cx="1005840" cy="41148"/>
          </a:xfrm>
          <a:prstGeom prst="rect">
            <a:avLst/>
          </a:prstGeom>
          <a:solidFill>
            <a:srgbClr val="C69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78638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0E1618"/>
                </a:solidFill>
                <a:latin typeface="Georgia"/>
              </a:rPr>
              <a:t>От оферта до публикация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68880"/>
            <a:ext cx="19659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2468880"/>
            <a:ext cx="1965960" cy="82296"/>
          </a:xfrm>
          <a:prstGeom prst="roundRect">
            <a:avLst>
              <a:gd name="adj" fmla="val 6000"/>
            </a:avLst>
          </a:prstGeom>
          <a:solidFill>
            <a:srgbClr val="1A5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2779776"/>
            <a:ext cx="174650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650" b="1" i="0">
                <a:solidFill>
                  <a:srgbClr val="0E1618"/>
                </a:solidFill>
                <a:latin typeface="Georgia"/>
              </a:rPr>
              <a:t>Offer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529584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5F5C"/>
                </a:solidFill>
                <a:latin typeface="Segoe UI"/>
              </a:rPr>
              <a:t>нормализирана оферта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971800"/>
            <a:ext cx="3291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C69B54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16935" y="2468880"/>
            <a:ext cx="19659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16935" y="2468880"/>
            <a:ext cx="1965960" cy="82296"/>
          </a:xfrm>
          <a:prstGeom prst="roundRect">
            <a:avLst>
              <a:gd name="adj" fmla="val 6000"/>
            </a:avLst>
          </a:prstGeom>
          <a:solidFill>
            <a:srgbClr val="1A5A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26663" y="2779776"/>
            <a:ext cx="174650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650" b="1" i="0">
                <a:solidFill>
                  <a:srgbClr val="0E1618"/>
                </a:solidFill>
                <a:latin typeface="Georgia"/>
              </a:rPr>
              <a:t>Collection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3" y="3529584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5F5C"/>
                </a:solidFill>
                <a:latin typeface="Segoe UI"/>
              </a:rPr>
              <a:t>подбор с филтри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2971800"/>
            <a:ext cx="3291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C69B54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5503" y="2468880"/>
            <a:ext cx="19659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75503" y="2468880"/>
            <a:ext cx="1965960" cy="82296"/>
          </a:xfrm>
          <a:prstGeom prst="roundRect">
            <a:avLst>
              <a:gd name="adj" fmla="val 6000"/>
            </a:avLst>
          </a:prstGeom>
          <a:solidFill>
            <a:srgbClr val="1447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85231" y="2779776"/>
            <a:ext cx="174650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650" b="1" i="0">
                <a:solidFill>
                  <a:srgbClr val="0E1618"/>
                </a:solidFill>
                <a:latin typeface="Georgia"/>
              </a:rPr>
              <a:t>Experience
+ Theme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1" y="3529584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5F5C"/>
                </a:solidFill>
                <a:latin typeface="Segoe UI"/>
              </a:rPr>
              <a:t>изглед и стил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5" y="2971800"/>
            <a:ext cx="3291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C69B54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34071" y="2468880"/>
            <a:ext cx="19659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34071" y="2468880"/>
            <a:ext cx="1965960" cy="82296"/>
          </a:xfrm>
          <a:prstGeom prst="roundRect">
            <a:avLst>
              <a:gd name="adj" fmla="val 6000"/>
            </a:avLst>
          </a:prstGeom>
          <a:solidFill>
            <a:srgbClr val="B38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43799" y="2779776"/>
            <a:ext cx="174650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650" b="1" i="0">
                <a:solidFill>
                  <a:srgbClr val="0E1618"/>
                </a:solidFill>
                <a:latin typeface="Georgia"/>
              </a:rPr>
              <a:t>Publication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799" y="3529584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5F5C"/>
                </a:solidFill>
                <a:latin typeface="Segoe UI"/>
              </a:rPr>
              <a:t>публичен ключ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2971800"/>
            <a:ext cx="3291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C69B54"/>
                </a:solidFill>
                <a:latin typeface="Segoe U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2468880"/>
            <a:ext cx="19659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692640" y="2468880"/>
            <a:ext cx="1965960" cy="82296"/>
          </a:xfrm>
          <a:prstGeom prst="roundRect">
            <a:avLst>
              <a:gd name="adj" fmla="val 6000"/>
            </a:avLst>
          </a:prstGeom>
          <a:solidFill>
            <a:srgbClr val="0F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02367" y="2779776"/>
            <a:ext cx="174650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sz="1650" b="1" i="0">
                <a:solidFill>
                  <a:srgbClr val="0E1618"/>
                </a:solidFill>
                <a:latin typeface="Georgia"/>
              </a:rPr>
              <a:t>Канали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7" y="3529584"/>
            <a:ext cx="17465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25F5C"/>
                </a:solidFill>
                <a:latin typeface="Segoe UI"/>
              </a:rPr>
              <a:t>сайт · WP · 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486400"/>
            <a:ext cx="3520440" cy="566928"/>
          </a:xfrm>
          <a:prstGeom prst="roundRect">
            <a:avLst>
              <a:gd name="adj" fmla="val 6000"/>
            </a:avLst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86968" y="563270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A4744"/>
                </a:solidFill>
                <a:latin typeface="Segoe UI"/>
              </a:rPr>
              <a:t>Connector engine · XML/JSON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5486400"/>
            <a:ext cx="3520440" cy="566928"/>
          </a:xfrm>
          <a:prstGeom prst="roundRect">
            <a:avLst>
              <a:gd name="adj" fmla="val 6000"/>
            </a:avLst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0" y="563270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A4744"/>
                </a:solidFill>
                <a:latin typeface="Segoe UI"/>
              </a:rPr>
              <a:t>Мулти-тенант изолация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8432" y="5486400"/>
            <a:ext cx="3520440" cy="566928"/>
          </a:xfrm>
          <a:prstGeom prst="roundRect">
            <a:avLst>
              <a:gd name="adj" fmla="val 6000"/>
            </a:avLst>
          </a:prstGeom>
          <a:solidFill>
            <a:srgbClr val="F1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57032" y="563270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A4744"/>
                </a:solidFill>
                <a:latin typeface="Segoe UI"/>
              </a:rPr>
              <a:t>Webhooks · Leads · 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5A61"/>
                </a:solidFill>
                <a:latin typeface="Georgia"/>
              </a:rPr>
              <a:t>odisea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11535" y="6400800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C7976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547</Words>
  <Application>Microsoft Office PowerPoint</Application>
  <PresentationFormat>Widescreen</PresentationFormat>
  <Paragraphs>145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Arkan Ahmedov</cp:lastModifiedBy>
  <cp:revision>9</cp:revision>
  <dcterms:created xsi:type="dcterms:W3CDTF">2013-01-27T09:14:16Z</dcterms:created>
  <dcterms:modified xsi:type="dcterms:W3CDTF">2026-07-02T22:48:45Z</dcterms:modified>
  <cp:category/>
</cp:coreProperties>
</file>